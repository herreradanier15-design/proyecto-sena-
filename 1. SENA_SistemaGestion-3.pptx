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468" r:id="rId2"/>
    <p:sldId id="510" r:id="rId3"/>
    <p:sldId id="502" r:id="rId4"/>
    <p:sldId id="530" r:id="rId5"/>
    <p:sldId id="523" r:id="rId6"/>
    <p:sldId id="512" r:id="rId7"/>
    <p:sldId id="524" r:id="rId8"/>
    <p:sldId id="525" r:id="rId9"/>
    <p:sldId id="527" r:id="rId10"/>
    <p:sldId id="528" r:id="rId11"/>
    <p:sldId id="529" r:id="rId12"/>
    <p:sldId id="264"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22/06/2026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22/06/2026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B25968F-984F-8BF4-4FF0-2432A9923EB8}"/>
              </a:ext>
            </a:extLst>
          </p:cNvPr>
          <p:cNvPicPr>
            <a:picLocks noChangeAspect="1"/>
          </p:cNvPicPr>
          <p:nvPr userDrawn="1"/>
        </p:nvPicPr>
        <p:blipFill>
          <a:blip r:embed="rId2"/>
          <a:stretch>
            <a:fillRect/>
          </a:stretch>
        </p:blipFill>
        <p:spPr>
          <a:xfrm>
            <a:off x="11027833" y="317431"/>
            <a:ext cx="811391" cy="790587"/>
          </a:xfrm>
          <a:prstGeom prst="rect">
            <a:avLst/>
          </a:prstGeom>
        </p:spPr>
      </p:pic>
    </p:spTree>
    <p:extLst>
      <p:ext uri="{BB962C8B-B14F-4D97-AF65-F5344CB8AC3E}">
        <p14:creationId xmlns:p14="http://schemas.microsoft.com/office/powerpoint/2010/main" val="324682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6" name="Imagen 5" descr="Patrón de fondo  Descripción generada automáticamente">
            <a:extLst>
              <a:ext uri="{FF2B5EF4-FFF2-40B4-BE49-F238E27FC236}">
                <a16:creationId xmlns:a16="http://schemas.microsoft.com/office/drawing/2014/main" id="{EDE1298D-A4F7-F1E4-F1B3-3D2F5117E04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Imagen 3">
            <a:extLst>
              <a:ext uri="{FF2B5EF4-FFF2-40B4-BE49-F238E27FC236}">
                <a16:creationId xmlns:a16="http://schemas.microsoft.com/office/drawing/2014/main" id="{69B39820-C822-5D71-439D-76D8E95C16E9}"/>
              </a:ext>
            </a:extLst>
          </p:cNvPr>
          <p:cNvPicPr>
            <a:picLocks noChangeAspect="1"/>
          </p:cNvPicPr>
          <p:nvPr userDrawn="1"/>
        </p:nvPicPr>
        <p:blipFill>
          <a:blip r:embed="rId3"/>
          <a:stretch>
            <a:fillRect/>
          </a:stretch>
        </p:blipFill>
        <p:spPr>
          <a:xfrm>
            <a:off x="11054859" y="303050"/>
            <a:ext cx="855785" cy="833982"/>
          </a:xfrm>
          <a:prstGeom prst="rect">
            <a:avLst/>
          </a:prstGeom>
        </p:spPr>
      </p:pic>
    </p:spTree>
    <p:extLst>
      <p:ext uri="{BB962C8B-B14F-4D97-AF65-F5344CB8AC3E}">
        <p14:creationId xmlns:p14="http://schemas.microsoft.com/office/powerpoint/2010/main" val="3370360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22/06/2026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  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22/06/2026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59" r:id="rId12"/>
    <p:sldLayoutId id="2147483663" r:id="rId13"/>
    <p:sldLayoutId id="2147483675" r:id="rId14"/>
    <p:sldLayoutId id="214748367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236053" y="2431521"/>
            <a:ext cx="7476360" cy="1077218"/>
          </a:xfrm>
          <a:prstGeom prst="rect">
            <a:avLst/>
          </a:prstGeom>
          <a:noFill/>
        </p:spPr>
        <p:txBody>
          <a:bodyPr wrap="square" lIns="91440" tIns="45720" rIns="91440" bIns="45720" rtlCol="0" anchor="t">
            <a:spAutoFit/>
          </a:bodyPr>
          <a:lstStyle/>
          <a:p>
            <a:r>
              <a:rPr lang="es-ES" sz="3200" b="1">
                <a:solidFill>
                  <a:schemeClr val="tx1">
                    <a:lumMod val="75000"/>
                    <a:lumOff val="25000"/>
                  </a:schemeClr>
                </a:solidFill>
                <a:latin typeface="Work Sans"/>
              </a:rPr>
              <a:t>Sistema Inteligente de Gestión para </a:t>
            </a:r>
          </a:p>
          <a:p>
            <a:r>
              <a:rPr lang="es-ES" sz="3200" b="1">
                <a:solidFill>
                  <a:schemeClr val="tx1">
                    <a:lumMod val="75000"/>
                    <a:lumOff val="25000"/>
                  </a:schemeClr>
                </a:solidFill>
                <a:latin typeface="Work Sans"/>
              </a:rPr>
              <a:t>Taller de Reparación de Muebles</a:t>
            </a:r>
          </a:p>
        </p:txBody>
      </p:sp>
      <p:sp>
        <p:nvSpPr>
          <p:cNvPr id="3" name="Título 1">
            <a:extLst>
              <a:ext uri="{FF2B5EF4-FFF2-40B4-BE49-F238E27FC236}">
                <a16:creationId xmlns:a16="http://schemas.microsoft.com/office/drawing/2014/main" id="{B68E097C-9368-092B-1FB4-6E9ABB8A5FC5}"/>
              </a:ext>
            </a:extLst>
          </p:cNvPr>
          <p:cNvSpPr txBox="1">
            <a:spLocks/>
          </p:cNvSpPr>
          <p:nvPr/>
        </p:nvSpPr>
        <p:spPr>
          <a:xfrm>
            <a:off x="1238289" y="3956909"/>
            <a:ext cx="3938337" cy="686624"/>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1200">
                <a:latin typeface="Work Sans Medium"/>
              </a:rPr>
              <a:t>Danier Felipe Herrera Charry</a:t>
            </a:r>
            <a:endParaRPr lang="es-CO" sz="1200">
              <a:latin typeface="Work Sans Medium" pitchFamily="2" charset="77"/>
            </a:endParaRPr>
          </a:p>
          <a:p>
            <a:r>
              <a:rPr lang="es-CO" sz="1200">
                <a:latin typeface="Work Sans Medium"/>
              </a:rPr>
              <a:t>Eydy Yuliana Bobadilla Cubillos</a:t>
            </a:r>
          </a:p>
          <a:p>
            <a:r>
              <a:rPr lang="es-CO" sz="1200">
                <a:latin typeface="Work Sans Medium"/>
              </a:rPr>
              <a:t>Jhoan Sebastián Martínez Gómez</a:t>
            </a:r>
            <a:endParaRPr lang="es-CO" sz="1200">
              <a:latin typeface="Work Sans Medium" pitchFamily="2" charset="77"/>
            </a:endParaRPr>
          </a:p>
          <a:p>
            <a:r>
              <a:rPr lang="es-CO" sz="1200">
                <a:latin typeface="Work Sans Medium"/>
              </a:rPr>
              <a:t>Santiago Ortigoza Javela </a:t>
            </a:r>
          </a:p>
          <a:p>
            <a:endParaRPr lang="es-CO" sz="1200">
              <a:solidFill>
                <a:srgbClr val="38AA00"/>
              </a:solidFill>
              <a:latin typeface="Work Sans Medium"/>
            </a:endParaRPr>
          </a:p>
          <a:p>
            <a:r>
              <a:rPr lang="es-CO" sz="1200" b="1">
                <a:latin typeface="Work Sans Medium"/>
              </a:rPr>
              <a:t>Ficha:</a:t>
            </a:r>
            <a:r>
              <a:rPr lang="es-CO" sz="1200">
                <a:latin typeface="Work Sans Medium"/>
              </a:rPr>
              <a:t> 3388486</a:t>
            </a: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p:cNvSpPr txBox="1">
            <a:spLocks/>
          </p:cNvSpPr>
          <p:nvPr/>
        </p:nvSpPr>
        <p:spPr>
          <a:xfrm>
            <a:off x="456236" y="457723"/>
            <a:ext cx="10515600" cy="676598"/>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b="1">
                <a:solidFill>
                  <a:srgbClr val="38AA00"/>
                </a:solidFill>
                <a:latin typeface="Work Sans Medium"/>
              </a:rPr>
              <a:t>Introducción</a:t>
            </a:r>
            <a:endParaRPr lang="es-CO" b="1">
              <a:solidFill>
                <a:srgbClr val="38AA00"/>
              </a:solidFill>
              <a:latin typeface="Work Sans Medium" pitchFamily="2" charset="77"/>
            </a:endParaRPr>
          </a:p>
        </p:txBody>
      </p:sp>
      <p:sp>
        <p:nvSpPr>
          <p:cNvPr id="3" name="Contenido 2"/>
          <p:cNvSpPr txBox="1"/>
          <p:nvPr/>
        </p:nvSpPr>
        <p:spPr>
          <a:xfrm>
            <a:off x="456236" y="1700000"/>
            <a:ext cx="10515600" cy="4700000"/>
          </a:xfrm>
          <a:prstGeom prst="rect">
            <a:avLst/>
          </a:prstGeom>
          <a:noFill/>
        </p:spPr>
        <p:txBody>
          <a:bodyPr wrap="square" lIns="91440" tIns="45720" rIns="91440" bIns="45720" rtlCol="0" anchor="t">
            <a:normAutofit/>
          </a:bodyPr>
          <a:lstStyle/>
          <a:p>
            <a:r>
              <a:rPr lang="es-CO" i="1" dirty="0">
                <a:solidFill>
                  <a:schemeClr val="tx1">
                    <a:lumMod val="95000"/>
                    <a:lumOff val="5000"/>
                  </a:schemeClr>
                </a:solidFill>
                <a:latin typeface="Calibri"/>
                <a:ea typeface="Calibri"/>
                <a:cs typeface="Calibri"/>
              </a:rPr>
              <a:t>Antes de proponer cualquier solución, hay que entender la realidad del negocio Compra y Venta de Muebles La Caqueteña</a:t>
            </a:r>
          </a:p>
          <a:p>
            <a:pPr>
              <a:buNone/>
            </a:pPr>
            <a:endParaRPr lang="es-CO" dirty="0">
              <a:latin typeface="Calibri"/>
              <a:ea typeface="Calibri"/>
              <a:cs typeface="Calibri"/>
            </a:endParaRPr>
          </a:p>
          <a:p>
            <a:pPr algn="l">
              <a:buNone/>
            </a:pPr>
            <a:r>
              <a:rPr lang="es-CO" b="1" dirty="0">
                <a:solidFill>
                  <a:srgbClr val="38AA00"/>
                </a:solidFill>
                <a:latin typeface="Calibri"/>
                <a:ea typeface="Calibri"/>
                <a:cs typeface="Calibri"/>
              </a:rPr>
              <a:t>Herramientas actuales</a:t>
            </a:r>
          </a:p>
          <a:p>
            <a:pPr>
              <a:buFontTx/>
              <a:buChar char="•"/>
            </a:pPr>
            <a:r>
              <a:rPr lang="es-CO" dirty="0">
                <a:solidFill>
                  <a:schemeClr val="tx1">
                    <a:lumMod val="95000"/>
                    <a:lumOff val="5000"/>
                  </a:schemeClr>
                </a:solidFill>
                <a:latin typeface="Calibri"/>
                <a:ea typeface="Calibri"/>
                <a:cs typeface="Calibri"/>
              </a:rPr>
              <a:t>Cuadernos físicos para anotar clientes y muebles que ingresan, </a:t>
            </a:r>
            <a:r>
              <a:rPr lang="es-CO" dirty="0">
                <a:solidFill>
                  <a:schemeClr val="tx1">
                    <a:lumMod val="95000"/>
                    <a:lumOff val="5000"/>
                  </a:schemeClr>
                </a:solidFill>
                <a:ea typeface="Calibri"/>
                <a:cs typeface="Calibri"/>
              </a:rPr>
              <a:t>también costos, inventario y reparaciones.</a:t>
            </a:r>
            <a:endParaRPr lang="es-CO" dirty="0">
              <a:solidFill>
                <a:schemeClr val="tx1">
                  <a:lumMod val="95000"/>
                  <a:lumOff val="5000"/>
                </a:schemeClr>
              </a:solidFill>
              <a:latin typeface="Calibri"/>
              <a:ea typeface="Calibri"/>
              <a:cs typeface="Calibri"/>
            </a:endParaRPr>
          </a:p>
          <a:p>
            <a:pPr algn="l">
              <a:buChar char="•"/>
            </a:pPr>
            <a:r>
              <a:rPr lang="es-CO" dirty="0">
                <a:solidFill>
                  <a:schemeClr val="tx1">
                    <a:lumMod val="95000"/>
                    <a:lumOff val="5000"/>
                  </a:schemeClr>
                </a:solidFill>
                <a:latin typeface="Calibri"/>
                <a:ea typeface="Calibri"/>
                <a:cs typeface="Calibri"/>
              </a:rPr>
              <a:t>Sin respaldo digital: si se pierde el cuaderno, se pierde todo.</a:t>
            </a:r>
          </a:p>
          <a:p>
            <a:pPr>
              <a:buNone/>
            </a:pPr>
            <a:endParaRPr lang="es-CO" dirty="0">
              <a:latin typeface="Calibri"/>
              <a:ea typeface="Calibri"/>
              <a:cs typeface="Calibri"/>
            </a:endParaRPr>
          </a:p>
          <a:p>
            <a:pPr algn="l">
              <a:buNone/>
            </a:pPr>
            <a:r>
              <a:rPr lang="es-CO" b="1" dirty="0">
                <a:solidFill>
                  <a:srgbClr val="38AA00"/>
                </a:solidFill>
                <a:latin typeface="Calibri"/>
                <a:ea typeface="Calibri"/>
                <a:cs typeface="Calibri"/>
              </a:rPr>
              <a:t>Operación diaria</a:t>
            </a:r>
          </a:p>
          <a:p>
            <a:pPr>
              <a:buFont typeface="Arial"/>
              <a:buChar char="•"/>
            </a:pPr>
            <a:r>
              <a:rPr lang="es-CO" dirty="0">
                <a:solidFill>
                  <a:schemeClr val="tx1">
                    <a:lumMod val="95000"/>
                    <a:lumOff val="5000"/>
                  </a:schemeClr>
                </a:solidFill>
                <a:ea typeface="+mn-lt"/>
                <a:cs typeface="+mn-lt"/>
              </a:rPr>
              <a:t>El Administrador (restaurador y tapicero) recibe el mueble y registra la información en un cuaderno o de forma manual.</a:t>
            </a:r>
            <a:endParaRPr lang="es-CO" dirty="0">
              <a:solidFill>
                <a:schemeClr val="tx1">
                  <a:lumMod val="95000"/>
                  <a:lumOff val="5000"/>
                </a:schemeClr>
              </a:solidFill>
              <a:ea typeface="Calibri"/>
              <a:cs typeface="Calibri"/>
            </a:endParaRPr>
          </a:p>
          <a:p>
            <a:pPr>
              <a:buFont typeface="Arial"/>
              <a:buChar char="•"/>
            </a:pPr>
            <a:r>
              <a:rPr lang="es-CO" dirty="0">
                <a:solidFill>
                  <a:schemeClr val="tx1">
                    <a:lumMod val="95000"/>
                    <a:lumOff val="5000"/>
                  </a:schemeClr>
                </a:solidFill>
                <a:ea typeface="+mn-lt"/>
                <a:cs typeface="+mn-lt"/>
              </a:rPr>
              <a:t>El fabricante o reparador realiza el proceso de fabricación o reparación según el trabajo requerido.</a:t>
            </a:r>
            <a:endParaRPr lang="es-CO" dirty="0">
              <a:solidFill>
                <a:schemeClr val="tx1">
                  <a:lumMod val="95000"/>
                  <a:lumOff val="5000"/>
                </a:schemeClr>
              </a:solidFill>
            </a:endParaRPr>
          </a:p>
          <a:p>
            <a:pPr>
              <a:buFont typeface="Arial"/>
              <a:buChar char="•"/>
            </a:pPr>
            <a:r>
              <a:rPr lang="es-CO" dirty="0">
                <a:solidFill>
                  <a:schemeClr val="tx1">
                    <a:lumMod val="95000"/>
                    <a:lumOff val="5000"/>
                  </a:schemeClr>
                </a:solidFill>
                <a:ea typeface="+mn-lt"/>
                <a:cs typeface="+mn-lt"/>
              </a:rPr>
              <a:t>La información sobre el estado del mueble se comunica de forma verbal entre los miembros del equipo.</a:t>
            </a:r>
          </a:p>
          <a:p>
            <a:pPr>
              <a:buFont typeface="Arial"/>
              <a:buChar char="•"/>
            </a:pPr>
            <a:r>
              <a:rPr lang="es-CO" dirty="0">
                <a:solidFill>
                  <a:schemeClr val="tx1">
                    <a:lumMod val="95000"/>
                    <a:lumOff val="5000"/>
                  </a:schemeClr>
                </a:solidFill>
                <a:ea typeface="+mn-lt"/>
                <a:cs typeface="+mn-lt"/>
              </a:rPr>
              <a:t>Cuando un cliente solicita información sobre su mueble, se debe revisar el cuaderno o consultar directamente por WhatsApp.</a:t>
            </a:r>
            <a:endParaRPr lang="es-CO" dirty="0">
              <a:solidFill>
                <a:schemeClr val="tx1">
                  <a:lumMod val="95000"/>
                  <a:lumOff val="5000"/>
                </a:schemeClr>
              </a:solidFill>
              <a:ea typeface="Calibri"/>
              <a:cs typeface="Calibri"/>
            </a:endParaRPr>
          </a:p>
          <a:p>
            <a:pPr algn="l">
              <a:buChar char="•"/>
            </a:pPr>
            <a:endParaRPr lang="es-CO" dirty="0">
              <a:solidFill>
                <a:schemeClr val="tx1">
                  <a:lumMod val="95000"/>
                  <a:lumOff val="5000"/>
                </a:schemeClr>
              </a:solidFill>
              <a:latin typeface="Calibri"/>
              <a:ea typeface="Calibri"/>
              <a:cs typeface="Calibri"/>
            </a:endParaRPr>
          </a:p>
          <a:p>
            <a:pPr>
              <a:buNone/>
            </a:pPr>
            <a:endParaRPr lang="es-CO" sz="800" dirty="0">
              <a:latin typeface="Calibri"/>
              <a:ea typeface="Calibri"/>
              <a:cs typeface="Calibri"/>
            </a:endParaRPr>
          </a:p>
          <a:p>
            <a:pPr algn="l">
              <a:buNone/>
            </a:pPr>
            <a:endParaRPr lang="es-CO" sz="1500" dirty="0">
              <a:latin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pPr algn="ctr"/>
            <a:r>
              <a:rPr lang="es-CO" b="1">
                <a:solidFill>
                  <a:schemeClr val="bg1"/>
                </a:solidFill>
                <a:latin typeface="Work Sans Medium"/>
              </a:rPr>
              <a:t>Planteamiento del problema</a:t>
            </a:r>
            <a:endParaRPr lang="es-ES" b="1">
              <a:solidFill>
                <a:schemeClr val="bg1"/>
              </a:solidFill>
              <a:ea typeface="Calibri Light" panose="020F0302020204030204"/>
              <a:cs typeface="Calibri Light" panose="020F0302020204030204"/>
            </a:endParaRPr>
          </a:p>
        </p:txBody>
      </p:sp>
      <p:sp>
        <p:nvSpPr>
          <p:cNvPr id="4" name="CuadroTexto 3">
            <a:extLst>
              <a:ext uri="{FF2B5EF4-FFF2-40B4-BE49-F238E27FC236}">
                <a16:creationId xmlns:a16="http://schemas.microsoft.com/office/drawing/2014/main" id="{6785B91B-1521-7D25-ACB2-6D198FE87D13}"/>
              </a:ext>
            </a:extLst>
          </p:cNvPr>
          <p:cNvSpPr txBox="1"/>
          <p:nvPr/>
        </p:nvSpPr>
        <p:spPr>
          <a:xfrm>
            <a:off x="567000" y="1710061"/>
            <a:ext cx="11069308" cy="4745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419" dirty="0">
                <a:solidFill>
                  <a:srgbClr val="0D0D0D"/>
                </a:solidFill>
                <a:ea typeface="+mn-lt"/>
                <a:cs typeface="+mn-lt"/>
              </a:rPr>
              <a:t>El taller de reparación y restauración de muebles </a:t>
            </a:r>
            <a:r>
              <a:rPr lang="es-419" b="1" dirty="0">
                <a:solidFill>
                  <a:srgbClr val="0D0D0D"/>
                </a:solidFill>
                <a:ea typeface="+mn-lt"/>
                <a:cs typeface="+mn-lt"/>
              </a:rPr>
              <a:t>Compra y Venta La Caqueteña</a:t>
            </a:r>
            <a:r>
              <a:rPr lang="es-419" dirty="0">
                <a:solidFill>
                  <a:srgbClr val="0D0D0D"/>
                </a:solidFill>
                <a:ea typeface="+mn-lt"/>
                <a:cs typeface="+mn-lt"/>
              </a:rPr>
              <a:t>, ubicado en el barrio Paraíso Mirador de Ciudad Bolívar en Bogotá, atiende aproximadamente </a:t>
            </a:r>
            <a:r>
              <a:rPr lang="es-419" b="1" dirty="0">
                <a:solidFill>
                  <a:srgbClr val="0D0D0D"/>
                </a:solidFill>
                <a:ea typeface="+mn-lt"/>
                <a:cs typeface="+mn-lt"/>
              </a:rPr>
              <a:t>60 muebles por mes</a:t>
            </a:r>
            <a:r>
              <a:rPr lang="es-419" dirty="0">
                <a:solidFill>
                  <a:srgbClr val="0D0D0D"/>
                </a:solidFill>
                <a:ea typeface="+mn-lt"/>
                <a:cs typeface="+mn-lt"/>
              </a:rPr>
              <a:t> y opera actualmente sin ningún sistema digital integrado. La gestión del negocio se divide en tres frentes críticos con problemas diferenciados:</a:t>
            </a:r>
            <a:endParaRPr lang="es-ES" dirty="0">
              <a:ea typeface="Calibri" panose="020F0502020204030204"/>
              <a:cs typeface="Calibri" panose="020F0502020204030204"/>
            </a:endParaRPr>
          </a:p>
          <a:p>
            <a:pPr algn="just"/>
            <a:r>
              <a:rPr lang="es-419" b="1" dirty="0">
                <a:solidFill>
                  <a:srgbClr val="0D0D0D"/>
                </a:solidFill>
                <a:ea typeface="+mn-lt"/>
                <a:cs typeface="+mn-lt"/>
              </a:rPr>
              <a:t>Gestión de clientes y órdenes:</a:t>
            </a:r>
            <a:r>
              <a:rPr lang="es-419" dirty="0">
                <a:solidFill>
                  <a:srgbClr val="0D0D0D"/>
                </a:solidFill>
                <a:ea typeface="+mn-lt"/>
                <a:cs typeface="+mn-lt"/>
              </a:rPr>
              <a:t> El registro de clientes, muebles entrantes y estados de reparación se realiza en cuadernos físicos. Esto genera pérdida de información, imposibilidad de consulta rápida y comunicación reactiva con el cliente vía WhatsApp, sin trazabilidad del proceso.</a:t>
            </a:r>
            <a:endParaRPr lang="es-419" dirty="0">
              <a:ea typeface="Calibri" panose="020F0502020204030204"/>
              <a:cs typeface="Calibri" panose="020F0502020204030204"/>
            </a:endParaRPr>
          </a:p>
          <a:p>
            <a:pPr algn="just"/>
            <a:r>
              <a:rPr lang="es-419" b="1" dirty="0">
                <a:solidFill>
                  <a:srgbClr val="0D0D0D"/>
                </a:solidFill>
                <a:ea typeface="+mn-lt"/>
                <a:cs typeface="+mn-lt"/>
              </a:rPr>
              <a:t>Control de inventario de insumos:</a:t>
            </a:r>
            <a:r>
              <a:rPr lang="es-419" dirty="0">
                <a:solidFill>
                  <a:srgbClr val="0D0D0D"/>
                </a:solidFill>
                <a:ea typeface="+mn-lt"/>
                <a:cs typeface="+mn-lt"/>
              </a:rPr>
              <a:t> Los materiales (maderas, telas, espumas, pinturas, herrajes) se manejan en hojas de papel, sin conexión con las órdenes de trabajo. No existe descuento automático de materiales por reparación ni alertas de stock bajo, lo que genera compras de emergencia y costos innecesarios.</a:t>
            </a:r>
            <a:endParaRPr lang="es-419" dirty="0">
              <a:ea typeface="Calibri" panose="020F0502020204030204"/>
              <a:cs typeface="Calibri" panose="020F0502020204030204"/>
            </a:endParaRPr>
          </a:p>
          <a:p>
            <a:pPr algn="just"/>
            <a:r>
              <a:rPr lang="es-419" b="1" dirty="0">
                <a:solidFill>
                  <a:srgbClr val="0D0D0D"/>
                </a:solidFill>
                <a:ea typeface="+mn-lt"/>
                <a:cs typeface="+mn-lt"/>
              </a:rPr>
              <a:t>Seguimiento del proceso productivo:</a:t>
            </a:r>
            <a:r>
              <a:rPr lang="es-419" dirty="0">
                <a:solidFill>
                  <a:srgbClr val="0D0D0D"/>
                </a:solidFill>
                <a:ea typeface="+mn-lt"/>
                <a:cs typeface="+mn-lt"/>
              </a:rPr>
              <a:t> La comunicación del estado de un mueble entre el administrador, el reparador y el cliente es verbal o manual, sin etapas formales definidas ni registro de tiempos. Esto dificulta identificar cuellos de botella y estimar fechas de entrega.</a:t>
            </a:r>
            <a:endParaRPr lang="es-419" dirty="0">
              <a:ea typeface="Calibri" panose="020F0502020204030204"/>
              <a:cs typeface="Calibri" panose="020F0502020204030204"/>
            </a:endParaRPr>
          </a:p>
          <a:p>
            <a:pPr algn="just"/>
            <a:r>
              <a:rPr lang="es-419" dirty="0">
                <a:solidFill>
                  <a:srgbClr val="0D0D0D"/>
                </a:solidFill>
                <a:ea typeface="+mn-lt"/>
                <a:cs typeface="+mn-lt"/>
              </a:rPr>
              <a:t>La ausencia de un sistema integrado que centralice la </a:t>
            </a:r>
            <a:r>
              <a:rPr lang="es-419" b="1" dirty="0">
                <a:solidFill>
                  <a:srgbClr val="0D0D0D"/>
                </a:solidFill>
                <a:ea typeface="+mn-lt"/>
                <a:cs typeface="+mn-lt"/>
              </a:rPr>
              <a:t>gestión de clientes, el seguimiento de órdenes de reparación y el control de inventario</a:t>
            </a:r>
            <a:r>
              <a:rPr lang="es-419" dirty="0">
                <a:solidFill>
                  <a:srgbClr val="0D0D0D"/>
                </a:solidFill>
                <a:ea typeface="+mn-lt"/>
                <a:cs typeface="+mn-lt"/>
              </a:rPr>
              <a:t> genera desorganización operativa, retrasos en la producción y pérdida de información crítica para el negocio.</a:t>
            </a:r>
            <a:endParaRPr lang="es-419" dirty="0">
              <a:ea typeface="Calibri" panose="020F0502020204030204"/>
              <a:cs typeface="Calibri" panose="020F0502020204030204"/>
            </a:endParaRPr>
          </a:p>
          <a:p>
            <a:pPr algn="just">
              <a:lnSpc>
                <a:spcPts val="1575"/>
              </a:lnSpc>
            </a:pPr>
            <a:endParaRPr lang="es-419" sz="2000" dirty="0">
              <a:solidFill>
                <a:srgbClr val="0D0D0D"/>
              </a:solidFill>
              <a:ea typeface="Calibri"/>
              <a:cs typeface="Calibri"/>
            </a:endParaRPr>
          </a:p>
        </p:txBody>
      </p:sp>
    </p:spTree>
    <p:extLst>
      <p:ext uri="{BB962C8B-B14F-4D97-AF65-F5344CB8AC3E}">
        <p14:creationId xmlns:p14="http://schemas.microsoft.com/office/powerpoint/2010/main" val="2874888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E9F16-1747-D844-34C5-E735B35B00A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9CF0A78-BFC4-CB0F-DD60-17C25B239A1F}"/>
              </a:ext>
            </a:extLst>
          </p:cNvPr>
          <p:cNvSpPr txBox="1"/>
          <p:nvPr/>
        </p:nvSpPr>
        <p:spPr>
          <a:xfrm>
            <a:off x="518348" y="1714500"/>
            <a:ext cx="1090875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El taller </a:t>
            </a:r>
            <a:r>
              <a:rPr lang="en-US" dirty="0" err="1">
                <a:ea typeface="+mn-lt"/>
                <a:cs typeface="+mn-lt"/>
              </a:rPr>
              <a:t>Compra</a:t>
            </a:r>
            <a:r>
              <a:rPr lang="en-US" dirty="0">
                <a:ea typeface="+mn-lt"/>
                <a:cs typeface="+mn-lt"/>
              </a:rPr>
              <a:t> y Venta La </a:t>
            </a:r>
            <a:r>
              <a:rPr lang="en-US" dirty="0" err="1">
                <a:ea typeface="+mn-lt"/>
                <a:cs typeface="+mn-lt"/>
              </a:rPr>
              <a:t>Caqueteña</a:t>
            </a:r>
            <a:r>
              <a:rPr lang="en-US" dirty="0">
                <a:ea typeface="+mn-lt"/>
                <a:cs typeface="+mn-lt"/>
              </a:rPr>
              <a:t> </a:t>
            </a:r>
            <a:r>
              <a:rPr lang="en-US" dirty="0" err="1">
                <a:ea typeface="+mn-lt"/>
                <a:cs typeface="+mn-lt"/>
              </a:rPr>
              <a:t>atiende</a:t>
            </a:r>
            <a:r>
              <a:rPr lang="en-US" dirty="0">
                <a:ea typeface="+mn-lt"/>
                <a:cs typeface="+mn-lt"/>
              </a:rPr>
              <a:t> </a:t>
            </a:r>
            <a:r>
              <a:rPr lang="en-US" dirty="0" err="1">
                <a:ea typeface="+mn-lt"/>
                <a:cs typeface="+mn-lt"/>
              </a:rPr>
              <a:t>aproximadamente</a:t>
            </a:r>
            <a:r>
              <a:rPr lang="en-US" dirty="0">
                <a:ea typeface="+mn-lt"/>
                <a:cs typeface="+mn-lt"/>
              </a:rPr>
              <a:t> </a:t>
            </a:r>
            <a:r>
              <a:rPr lang="en-US" b="1" dirty="0">
                <a:ea typeface="+mn-lt"/>
                <a:cs typeface="+mn-lt"/>
              </a:rPr>
              <a:t>60 </a:t>
            </a:r>
            <a:r>
              <a:rPr lang="en-US" b="1" dirty="0" err="1">
                <a:ea typeface="+mn-lt"/>
                <a:cs typeface="+mn-lt"/>
              </a:rPr>
              <a:t>muebles</a:t>
            </a:r>
            <a:r>
              <a:rPr lang="en-US" b="1" dirty="0">
                <a:ea typeface="+mn-lt"/>
                <a:cs typeface="+mn-lt"/>
              </a:rPr>
              <a:t> </a:t>
            </a:r>
            <a:r>
              <a:rPr lang="en-US" b="1" dirty="0" err="1">
                <a:ea typeface="+mn-lt"/>
                <a:cs typeface="+mn-lt"/>
              </a:rPr>
              <a:t>por</a:t>
            </a:r>
            <a:r>
              <a:rPr lang="en-US" b="1" dirty="0">
                <a:ea typeface="+mn-lt"/>
                <a:cs typeface="+mn-lt"/>
              </a:rPr>
              <a:t> </a:t>
            </a:r>
            <a:r>
              <a:rPr lang="en-US" b="1" dirty="0" err="1">
                <a:ea typeface="+mn-lt"/>
                <a:cs typeface="+mn-lt"/>
              </a:rPr>
              <a:t>mes</a:t>
            </a:r>
            <a:r>
              <a:rPr lang="en-US" dirty="0">
                <a:ea typeface="+mn-lt"/>
                <a:cs typeface="+mn-lt"/>
              </a:rPr>
              <a:t>, lo </a:t>
            </a:r>
            <a:r>
              <a:rPr lang="en-US" dirty="0" err="1">
                <a:ea typeface="+mn-lt"/>
                <a:cs typeface="+mn-lt"/>
              </a:rPr>
              <a:t>que</a:t>
            </a:r>
            <a:r>
              <a:rPr lang="en-US" dirty="0">
                <a:ea typeface="+mn-lt"/>
                <a:cs typeface="+mn-lt"/>
              </a:rPr>
              <a:t> equivale a </a:t>
            </a:r>
            <a:r>
              <a:rPr lang="en-US" dirty="0" err="1">
                <a:ea typeface="+mn-lt"/>
                <a:cs typeface="+mn-lt"/>
              </a:rPr>
              <a:t>más</a:t>
            </a:r>
            <a:r>
              <a:rPr lang="en-US" dirty="0">
                <a:ea typeface="+mn-lt"/>
                <a:cs typeface="+mn-lt"/>
              </a:rPr>
              <a:t> de </a:t>
            </a:r>
            <a:r>
              <a:rPr lang="en-US" b="1" dirty="0">
                <a:ea typeface="+mn-lt"/>
                <a:cs typeface="+mn-lt"/>
              </a:rPr>
              <a:t>700 </a:t>
            </a:r>
            <a:r>
              <a:rPr lang="en-US" b="1" dirty="0" err="1">
                <a:ea typeface="+mn-lt"/>
                <a:cs typeface="+mn-lt"/>
              </a:rPr>
              <a:t>registros</a:t>
            </a:r>
            <a:r>
              <a:rPr lang="en-US" b="1" dirty="0">
                <a:ea typeface="+mn-lt"/>
                <a:cs typeface="+mn-lt"/>
              </a:rPr>
              <a:t> </a:t>
            </a:r>
            <a:r>
              <a:rPr lang="en-US" b="1" dirty="0" err="1">
                <a:ea typeface="+mn-lt"/>
                <a:cs typeface="+mn-lt"/>
              </a:rPr>
              <a:t>anuales</a:t>
            </a:r>
            <a:r>
              <a:rPr lang="en-US" dirty="0">
                <a:ea typeface="+mn-lt"/>
                <a:cs typeface="+mn-lt"/>
              </a:rPr>
              <a:t> de </a:t>
            </a:r>
            <a:r>
              <a:rPr lang="en-US" dirty="0" err="1">
                <a:ea typeface="+mn-lt"/>
                <a:cs typeface="+mn-lt"/>
              </a:rPr>
              <a:t>clientes</a:t>
            </a:r>
            <a:r>
              <a:rPr lang="en-US" dirty="0">
                <a:ea typeface="+mn-lt"/>
                <a:cs typeface="+mn-lt"/>
              </a:rPr>
              <a:t>, </a:t>
            </a:r>
            <a:r>
              <a:rPr lang="en-US" dirty="0" err="1">
                <a:ea typeface="+mn-lt"/>
                <a:cs typeface="+mn-lt"/>
              </a:rPr>
              <a:t>materiales</a:t>
            </a:r>
            <a:r>
              <a:rPr lang="en-US" dirty="0">
                <a:ea typeface="+mn-lt"/>
                <a:cs typeface="+mn-lt"/>
              </a:rPr>
              <a:t> y </a:t>
            </a:r>
            <a:r>
              <a:rPr lang="en-US" dirty="0" err="1">
                <a:ea typeface="+mn-lt"/>
                <a:cs typeface="+mn-lt"/>
              </a:rPr>
              <a:t>estados</a:t>
            </a:r>
            <a:r>
              <a:rPr lang="en-US" dirty="0">
                <a:ea typeface="+mn-lt"/>
                <a:cs typeface="+mn-lt"/>
              </a:rPr>
              <a:t> de </a:t>
            </a:r>
            <a:r>
              <a:rPr lang="en-US" dirty="0" err="1">
                <a:ea typeface="+mn-lt"/>
                <a:cs typeface="+mn-lt"/>
              </a:rPr>
              <a:t>reparación</a:t>
            </a:r>
            <a:r>
              <a:rPr lang="en-US" dirty="0">
                <a:ea typeface="+mn-lt"/>
                <a:cs typeface="+mn-lt"/>
              </a:rPr>
              <a:t> </a:t>
            </a:r>
            <a:r>
              <a:rPr lang="en-US" dirty="0" err="1">
                <a:ea typeface="+mn-lt"/>
                <a:cs typeface="+mn-lt"/>
              </a:rPr>
              <a:t>que</a:t>
            </a:r>
            <a:r>
              <a:rPr lang="en-US" dirty="0">
                <a:ea typeface="+mn-lt"/>
                <a:cs typeface="+mn-lt"/>
              </a:rPr>
              <a:t> hoy se </a:t>
            </a:r>
            <a:r>
              <a:rPr lang="en-US" dirty="0" err="1">
                <a:ea typeface="+mn-lt"/>
                <a:cs typeface="+mn-lt"/>
              </a:rPr>
              <a:t>manejan</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cuadernos</a:t>
            </a:r>
            <a:r>
              <a:rPr lang="en-US" dirty="0">
                <a:ea typeface="+mn-lt"/>
                <a:cs typeface="+mn-lt"/>
              </a:rPr>
              <a:t> </a:t>
            </a:r>
            <a:r>
              <a:rPr lang="en-US" dirty="0" err="1">
                <a:ea typeface="+mn-lt"/>
                <a:cs typeface="+mn-lt"/>
              </a:rPr>
              <a:t>físicos</a:t>
            </a:r>
            <a:r>
              <a:rPr lang="en-US" dirty="0">
                <a:ea typeface="+mn-lt"/>
                <a:cs typeface="+mn-lt"/>
              </a:rPr>
              <a:t>. Esta forma de </a:t>
            </a:r>
            <a:r>
              <a:rPr lang="en-US" dirty="0" err="1">
                <a:ea typeface="+mn-lt"/>
                <a:cs typeface="+mn-lt"/>
              </a:rPr>
              <a:t>operar</a:t>
            </a:r>
            <a:r>
              <a:rPr lang="en-US" dirty="0">
                <a:ea typeface="+mn-lt"/>
                <a:cs typeface="+mn-lt"/>
              </a:rPr>
              <a:t> genera </a:t>
            </a:r>
            <a:r>
              <a:rPr lang="en-US" dirty="0" err="1">
                <a:ea typeface="+mn-lt"/>
                <a:cs typeface="+mn-lt"/>
              </a:rPr>
              <a:t>tres</a:t>
            </a:r>
            <a:r>
              <a:rPr lang="en-US" dirty="0">
                <a:ea typeface="+mn-lt"/>
                <a:cs typeface="+mn-lt"/>
              </a:rPr>
              <a:t> </a:t>
            </a:r>
            <a:r>
              <a:rPr lang="en-US" dirty="0" err="1">
                <a:ea typeface="+mn-lt"/>
                <a:cs typeface="+mn-lt"/>
              </a:rPr>
              <a:t>consecuencias</a:t>
            </a:r>
            <a:r>
              <a:rPr lang="en-US" dirty="0">
                <a:ea typeface="+mn-lt"/>
                <a:cs typeface="+mn-lt"/>
              </a:rPr>
              <a:t> </a:t>
            </a:r>
            <a:r>
              <a:rPr lang="en-US" dirty="0" err="1">
                <a:ea typeface="+mn-lt"/>
                <a:cs typeface="+mn-lt"/>
              </a:rPr>
              <a:t>directas</a:t>
            </a:r>
            <a:r>
              <a:rPr lang="en-US" dirty="0">
                <a:ea typeface="+mn-lt"/>
                <a:cs typeface="+mn-lt"/>
              </a:rPr>
              <a:t> y </a:t>
            </a:r>
            <a:r>
              <a:rPr lang="en-US" dirty="0" err="1">
                <a:ea typeface="+mn-lt"/>
                <a:cs typeface="+mn-lt"/>
              </a:rPr>
              <a:t>medibles</a:t>
            </a:r>
            <a:r>
              <a:rPr lang="en-US" dirty="0">
                <a:ea typeface="+mn-lt"/>
                <a:cs typeface="+mn-lt"/>
              </a:rPr>
              <a:t> para </a:t>
            </a:r>
            <a:r>
              <a:rPr lang="en-US" dirty="0" err="1">
                <a:ea typeface="+mn-lt"/>
                <a:cs typeface="+mn-lt"/>
              </a:rPr>
              <a:t>el</a:t>
            </a:r>
            <a:r>
              <a:rPr lang="en-US" dirty="0">
                <a:ea typeface="+mn-lt"/>
                <a:cs typeface="+mn-lt"/>
              </a:rPr>
              <a:t> </a:t>
            </a:r>
            <a:r>
              <a:rPr lang="en-US" dirty="0" err="1">
                <a:ea typeface="+mn-lt"/>
                <a:cs typeface="+mn-lt"/>
              </a:rPr>
              <a:t>negocio</a:t>
            </a:r>
            <a:r>
              <a:rPr lang="en-US" dirty="0">
                <a:ea typeface="+mn-lt"/>
                <a:cs typeface="+mn-lt"/>
              </a:rPr>
              <a:t>:</a:t>
            </a:r>
            <a:endParaRPr lang="es-ES" dirty="0">
              <a:ea typeface="Calibri" panose="020F0502020204030204"/>
              <a:cs typeface="Calibri" panose="020F0502020204030204"/>
            </a:endParaRPr>
          </a:p>
          <a:p>
            <a:pPr algn="just"/>
            <a:r>
              <a:rPr lang="en-US" b="1" dirty="0" err="1">
                <a:ea typeface="+mn-lt"/>
                <a:cs typeface="+mn-lt"/>
              </a:rPr>
              <a:t>Pérdida</a:t>
            </a:r>
            <a:r>
              <a:rPr lang="en-US" b="1" dirty="0">
                <a:ea typeface="+mn-lt"/>
                <a:cs typeface="+mn-lt"/>
              </a:rPr>
              <a:t> de </a:t>
            </a:r>
            <a:r>
              <a:rPr lang="en-US" b="1" dirty="0" err="1">
                <a:ea typeface="+mn-lt"/>
                <a:cs typeface="+mn-lt"/>
              </a:rPr>
              <a:t>información</a:t>
            </a:r>
            <a:r>
              <a:rPr lang="en-US" b="1" dirty="0">
                <a:ea typeface="+mn-lt"/>
                <a:cs typeface="+mn-lt"/>
              </a:rPr>
              <a:t>:</a:t>
            </a:r>
            <a:r>
              <a:rPr lang="en-US" dirty="0">
                <a:ea typeface="+mn-lt"/>
                <a:cs typeface="+mn-lt"/>
              </a:rPr>
              <a:t> Sin </a:t>
            </a:r>
            <a:r>
              <a:rPr lang="en-US" dirty="0" err="1">
                <a:ea typeface="+mn-lt"/>
                <a:cs typeface="+mn-lt"/>
              </a:rPr>
              <a:t>respaldo</a:t>
            </a:r>
            <a:r>
              <a:rPr lang="en-US" dirty="0">
                <a:ea typeface="+mn-lt"/>
                <a:cs typeface="+mn-lt"/>
              </a:rPr>
              <a:t> digital, la </a:t>
            </a:r>
            <a:r>
              <a:rPr lang="en-US" dirty="0" err="1">
                <a:ea typeface="+mn-lt"/>
                <a:cs typeface="+mn-lt"/>
              </a:rPr>
              <a:t>pérdida</a:t>
            </a:r>
            <a:r>
              <a:rPr lang="en-US" dirty="0">
                <a:ea typeface="+mn-lt"/>
                <a:cs typeface="+mn-lt"/>
              </a:rPr>
              <a:t> o </a:t>
            </a:r>
            <a:r>
              <a:rPr lang="en-US" dirty="0" err="1">
                <a:ea typeface="+mn-lt"/>
                <a:cs typeface="+mn-lt"/>
              </a:rPr>
              <a:t>deterioro</a:t>
            </a:r>
            <a:r>
              <a:rPr lang="en-US" dirty="0">
                <a:ea typeface="+mn-lt"/>
                <a:cs typeface="+mn-lt"/>
              </a:rPr>
              <a:t> de un </a:t>
            </a:r>
            <a:r>
              <a:rPr lang="en-US" dirty="0" err="1">
                <a:ea typeface="+mn-lt"/>
                <a:cs typeface="+mn-lt"/>
              </a:rPr>
              <a:t>cuaderno</a:t>
            </a:r>
            <a:r>
              <a:rPr lang="en-US" dirty="0">
                <a:ea typeface="+mn-lt"/>
                <a:cs typeface="+mn-lt"/>
              </a:rPr>
              <a:t> </a:t>
            </a:r>
            <a:r>
              <a:rPr lang="en-US" dirty="0" err="1">
                <a:ea typeface="+mn-lt"/>
                <a:cs typeface="+mn-lt"/>
              </a:rPr>
              <a:t>implica</a:t>
            </a:r>
            <a:r>
              <a:rPr lang="en-US" dirty="0">
                <a:ea typeface="+mn-lt"/>
                <a:cs typeface="+mn-lt"/>
              </a:rPr>
              <a:t> </a:t>
            </a:r>
            <a:r>
              <a:rPr lang="en-US" dirty="0" err="1">
                <a:ea typeface="+mn-lt"/>
                <a:cs typeface="+mn-lt"/>
              </a:rPr>
              <a:t>perder</a:t>
            </a:r>
            <a:r>
              <a:rPr lang="en-US" dirty="0">
                <a:ea typeface="+mn-lt"/>
                <a:cs typeface="+mn-lt"/>
              </a:rPr>
              <a:t> </a:t>
            </a:r>
            <a:r>
              <a:rPr lang="en-US" dirty="0" err="1">
                <a:ea typeface="+mn-lt"/>
                <a:cs typeface="+mn-lt"/>
              </a:rPr>
              <a:t>el</a:t>
            </a:r>
            <a:r>
              <a:rPr lang="en-US" dirty="0">
                <a:ea typeface="+mn-lt"/>
                <a:cs typeface="+mn-lt"/>
              </a:rPr>
              <a:t> </a:t>
            </a:r>
            <a:r>
              <a:rPr lang="en-US" dirty="0" err="1">
                <a:ea typeface="+mn-lt"/>
                <a:cs typeface="+mn-lt"/>
              </a:rPr>
              <a:t>historial</a:t>
            </a:r>
            <a:r>
              <a:rPr lang="en-US" dirty="0">
                <a:ea typeface="+mn-lt"/>
                <a:cs typeface="+mn-lt"/>
              </a:rPr>
              <a:t> </a:t>
            </a:r>
            <a:r>
              <a:rPr lang="en-US" dirty="0" err="1">
                <a:ea typeface="+mn-lt"/>
                <a:cs typeface="+mn-lt"/>
              </a:rPr>
              <a:t>completo</a:t>
            </a:r>
            <a:r>
              <a:rPr lang="en-US" dirty="0">
                <a:ea typeface="+mn-lt"/>
                <a:cs typeface="+mn-lt"/>
              </a:rPr>
              <a:t> de </a:t>
            </a:r>
            <a:r>
              <a:rPr lang="en-US" dirty="0" err="1">
                <a:ea typeface="+mn-lt"/>
                <a:cs typeface="+mn-lt"/>
              </a:rPr>
              <a:t>clientes</a:t>
            </a:r>
            <a:r>
              <a:rPr lang="en-US" dirty="0">
                <a:ea typeface="+mn-lt"/>
                <a:cs typeface="+mn-lt"/>
              </a:rPr>
              <a:t> y </a:t>
            </a:r>
            <a:r>
              <a:rPr lang="en-US" dirty="0" err="1">
                <a:ea typeface="+mn-lt"/>
                <a:cs typeface="+mn-lt"/>
              </a:rPr>
              <a:t>órdenes</a:t>
            </a:r>
            <a:r>
              <a:rPr lang="en-US" dirty="0">
                <a:ea typeface="+mn-lt"/>
                <a:cs typeface="+mn-lt"/>
              </a:rPr>
              <a:t> </a:t>
            </a:r>
            <a:r>
              <a:rPr lang="en-US" dirty="0" err="1">
                <a:ea typeface="+mn-lt"/>
                <a:cs typeface="+mn-lt"/>
              </a:rPr>
              <a:t>activas</a:t>
            </a:r>
            <a:r>
              <a:rPr lang="en-US" dirty="0">
                <a:ea typeface="+mn-lt"/>
                <a:cs typeface="+mn-lt"/>
              </a:rPr>
              <a:t>. No </a:t>
            </a:r>
            <a:r>
              <a:rPr lang="en-US" dirty="0" err="1">
                <a:ea typeface="+mn-lt"/>
                <a:cs typeface="+mn-lt"/>
              </a:rPr>
              <a:t>existe</a:t>
            </a:r>
            <a:r>
              <a:rPr lang="en-US" dirty="0">
                <a:ea typeface="+mn-lt"/>
                <a:cs typeface="+mn-lt"/>
              </a:rPr>
              <a:t> forma de </a:t>
            </a:r>
            <a:r>
              <a:rPr lang="en-US" dirty="0" err="1">
                <a:ea typeface="+mn-lt"/>
                <a:cs typeface="+mn-lt"/>
              </a:rPr>
              <a:t>recuperar</a:t>
            </a:r>
            <a:r>
              <a:rPr lang="en-US" dirty="0">
                <a:ea typeface="+mn-lt"/>
                <a:cs typeface="+mn-lt"/>
              </a:rPr>
              <a:t> </a:t>
            </a:r>
            <a:r>
              <a:rPr lang="en-US" dirty="0" err="1">
                <a:ea typeface="+mn-lt"/>
                <a:cs typeface="+mn-lt"/>
              </a:rPr>
              <a:t>esa</a:t>
            </a:r>
            <a:r>
              <a:rPr lang="en-US" dirty="0">
                <a:ea typeface="+mn-lt"/>
                <a:cs typeface="+mn-lt"/>
              </a:rPr>
              <a:t> </a:t>
            </a:r>
            <a:r>
              <a:rPr lang="en-US" dirty="0" err="1">
                <a:ea typeface="+mn-lt"/>
                <a:cs typeface="+mn-lt"/>
              </a:rPr>
              <a:t>información</a:t>
            </a:r>
            <a:r>
              <a:rPr lang="en-US" dirty="0">
                <a:ea typeface="+mn-lt"/>
                <a:cs typeface="+mn-lt"/>
              </a:rPr>
              <a:t>.</a:t>
            </a:r>
            <a:endParaRPr lang="en-US" dirty="0">
              <a:ea typeface="Calibri" panose="020F0502020204030204"/>
              <a:cs typeface="Calibri" panose="020F0502020204030204"/>
            </a:endParaRPr>
          </a:p>
          <a:p>
            <a:pPr algn="just"/>
            <a:r>
              <a:rPr lang="en-US" b="1" dirty="0">
                <a:ea typeface="+mn-lt"/>
                <a:cs typeface="+mn-lt"/>
              </a:rPr>
              <a:t>Costos </a:t>
            </a:r>
            <a:r>
              <a:rPr lang="en-US" b="1" dirty="0" err="1">
                <a:ea typeface="+mn-lt"/>
                <a:cs typeface="+mn-lt"/>
              </a:rPr>
              <a:t>operativos</a:t>
            </a:r>
            <a:r>
              <a:rPr lang="en-US" b="1" dirty="0">
                <a:ea typeface="+mn-lt"/>
                <a:cs typeface="+mn-lt"/>
              </a:rPr>
              <a:t> </a:t>
            </a:r>
            <a:r>
              <a:rPr lang="en-US" b="1" dirty="0" err="1">
                <a:ea typeface="+mn-lt"/>
                <a:cs typeface="+mn-lt"/>
              </a:rPr>
              <a:t>innecesarios</a:t>
            </a:r>
            <a:r>
              <a:rPr lang="en-US" b="1" dirty="0">
                <a:ea typeface="+mn-lt"/>
                <a:cs typeface="+mn-lt"/>
              </a:rPr>
              <a:t>:</a:t>
            </a:r>
            <a:r>
              <a:rPr lang="en-US" dirty="0">
                <a:ea typeface="+mn-lt"/>
                <a:cs typeface="+mn-lt"/>
              </a:rPr>
              <a:t> Al no </a:t>
            </a:r>
            <a:r>
              <a:rPr lang="en-US" dirty="0" err="1">
                <a:ea typeface="+mn-lt"/>
                <a:cs typeface="+mn-lt"/>
              </a:rPr>
              <a:t>existir</a:t>
            </a:r>
            <a:r>
              <a:rPr lang="en-US" dirty="0">
                <a:ea typeface="+mn-lt"/>
                <a:cs typeface="+mn-lt"/>
              </a:rPr>
              <a:t> control de </a:t>
            </a:r>
            <a:r>
              <a:rPr lang="en-US" dirty="0" err="1">
                <a:ea typeface="+mn-lt"/>
                <a:cs typeface="+mn-lt"/>
              </a:rPr>
              <a:t>inventario</a:t>
            </a:r>
            <a:r>
              <a:rPr lang="en-US" dirty="0">
                <a:ea typeface="+mn-lt"/>
                <a:cs typeface="+mn-lt"/>
              </a:rPr>
              <a:t> </a:t>
            </a:r>
            <a:r>
              <a:rPr lang="en-US" dirty="0" err="1">
                <a:ea typeface="+mn-lt"/>
                <a:cs typeface="+mn-lt"/>
              </a:rPr>
              <a:t>conectado</a:t>
            </a:r>
            <a:r>
              <a:rPr lang="en-US" dirty="0">
                <a:ea typeface="+mn-lt"/>
                <a:cs typeface="+mn-lt"/>
              </a:rPr>
              <a:t> a las </a:t>
            </a:r>
            <a:r>
              <a:rPr lang="en-US" dirty="0" err="1">
                <a:ea typeface="+mn-lt"/>
                <a:cs typeface="+mn-lt"/>
              </a:rPr>
              <a:t>órdenes</a:t>
            </a:r>
            <a:r>
              <a:rPr lang="en-US" dirty="0">
                <a:ea typeface="+mn-lt"/>
                <a:cs typeface="+mn-lt"/>
              </a:rPr>
              <a:t> de </a:t>
            </a:r>
            <a:r>
              <a:rPr lang="en-US" dirty="0" err="1">
                <a:ea typeface="+mn-lt"/>
                <a:cs typeface="+mn-lt"/>
              </a:rPr>
              <a:t>trabajo</a:t>
            </a:r>
            <a:r>
              <a:rPr lang="en-US" dirty="0">
                <a:ea typeface="+mn-lt"/>
                <a:cs typeface="+mn-lt"/>
              </a:rPr>
              <a:t>, </a:t>
            </a:r>
            <a:r>
              <a:rPr lang="en-US" dirty="0" err="1">
                <a:ea typeface="+mn-lt"/>
                <a:cs typeface="+mn-lt"/>
              </a:rPr>
              <a:t>el</a:t>
            </a:r>
            <a:r>
              <a:rPr lang="en-US" dirty="0">
                <a:ea typeface="+mn-lt"/>
                <a:cs typeface="+mn-lt"/>
              </a:rPr>
              <a:t> taller </a:t>
            </a:r>
            <a:r>
              <a:rPr lang="en-US" dirty="0" err="1">
                <a:ea typeface="+mn-lt"/>
                <a:cs typeface="+mn-lt"/>
              </a:rPr>
              <a:t>realiza</a:t>
            </a:r>
            <a:r>
              <a:rPr lang="en-US" dirty="0">
                <a:ea typeface="+mn-lt"/>
                <a:cs typeface="+mn-lt"/>
              </a:rPr>
              <a:t> </a:t>
            </a:r>
            <a:r>
              <a:rPr lang="en-US" dirty="0" err="1">
                <a:ea typeface="+mn-lt"/>
                <a:cs typeface="+mn-lt"/>
              </a:rPr>
              <a:t>compras</a:t>
            </a:r>
            <a:r>
              <a:rPr lang="en-US" dirty="0">
                <a:ea typeface="+mn-lt"/>
                <a:cs typeface="+mn-lt"/>
              </a:rPr>
              <a:t> de </a:t>
            </a:r>
            <a:r>
              <a:rPr lang="en-US" dirty="0" err="1">
                <a:ea typeface="+mn-lt"/>
                <a:cs typeface="+mn-lt"/>
              </a:rPr>
              <a:t>emergencia</a:t>
            </a:r>
            <a:r>
              <a:rPr lang="en-US" dirty="0">
                <a:ea typeface="+mn-lt"/>
                <a:cs typeface="+mn-lt"/>
              </a:rPr>
              <a:t> de </a:t>
            </a:r>
            <a:r>
              <a:rPr lang="en-US" dirty="0" err="1">
                <a:ea typeface="+mn-lt"/>
                <a:cs typeface="+mn-lt"/>
              </a:rPr>
              <a:t>materiales</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ya</a:t>
            </a:r>
            <a:r>
              <a:rPr lang="en-US" dirty="0">
                <a:ea typeface="+mn-lt"/>
                <a:cs typeface="+mn-lt"/>
              </a:rPr>
              <a:t> </a:t>
            </a:r>
            <a:r>
              <a:rPr lang="en-US" dirty="0" err="1">
                <a:ea typeface="+mn-lt"/>
                <a:cs typeface="+mn-lt"/>
              </a:rPr>
              <a:t>tiene</a:t>
            </a:r>
            <a:r>
              <a:rPr lang="en-US" dirty="0">
                <a:ea typeface="+mn-lt"/>
                <a:cs typeface="+mn-lt"/>
              </a:rPr>
              <a:t> </a:t>
            </a:r>
            <a:r>
              <a:rPr lang="en-US" dirty="0" err="1">
                <a:ea typeface="+mn-lt"/>
                <a:cs typeface="+mn-lt"/>
              </a:rPr>
              <a:t>en</a:t>
            </a:r>
            <a:r>
              <a:rPr lang="en-US" dirty="0">
                <a:ea typeface="+mn-lt"/>
                <a:cs typeface="+mn-lt"/>
              </a:rPr>
              <a:t> stock </a:t>
            </a:r>
            <a:r>
              <a:rPr lang="en-US" dirty="0" err="1">
                <a:ea typeface="+mn-lt"/>
                <a:cs typeface="+mn-lt"/>
              </a:rPr>
              <a:t>pero</a:t>
            </a:r>
            <a:r>
              <a:rPr lang="en-US" dirty="0">
                <a:ea typeface="+mn-lt"/>
                <a:cs typeface="+mn-lt"/>
              </a:rPr>
              <a:t> no </a:t>
            </a:r>
            <a:r>
              <a:rPr lang="en-US" dirty="0" err="1">
                <a:ea typeface="+mn-lt"/>
                <a:cs typeface="+mn-lt"/>
              </a:rPr>
              <a:t>puede</a:t>
            </a:r>
            <a:r>
              <a:rPr lang="en-US" dirty="0">
                <a:ea typeface="+mn-lt"/>
                <a:cs typeface="+mn-lt"/>
              </a:rPr>
              <a:t> </a:t>
            </a:r>
            <a:r>
              <a:rPr lang="en-US" dirty="0" err="1">
                <a:ea typeface="+mn-lt"/>
                <a:cs typeface="+mn-lt"/>
              </a:rPr>
              <a:t>ubicar</a:t>
            </a:r>
            <a:r>
              <a:rPr lang="en-US" dirty="0">
                <a:ea typeface="+mn-lt"/>
                <a:cs typeface="+mn-lt"/>
              </a:rPr>
              <a:t>, </a:t>
            </a:r>
            <a:r>
              <a:rPr lang="en-US" dirty="0" err="1">
                <a:ea typeface="+mn-lt"/>
                <a:cs typeface="+mn-lt"/>
              </a:rPr>
              <a:t>generando</a:t>
            </a:r>
            <a:r>
              <a:rPr lang="en-US" dirty="0">
                <a:ea typeface="+mn-lt"/>
                <a:cs typeface="+mn-lt"/>
              </a:rPr>
              <a:t> </a:t>
            </a:r>
            <a:r>
              <a:rPr lang="en-US" dirty="0" err="1">
                <a:ea typeface="+mn-lt"/>
                <a:cs typeface="+mn-lt"/>
              </a:rPr>
              <a:t>gastos</a:t>
            </a:r>
            <a:r>
              <a:rPr lang="en-US" dirty="0">
                <a:ea typeface="+mn-lt"/>
                <a:cs typeface="+mn-lt"/>
              </a:rPr>
              <a:t> </a:t>
            </a:r>
            <a:r>
              <a:rPr lang="en-US" dirty="0" err="1">
                <a:ea typeface="+mn-lt"/>
                <a:cs typeface="+mn-lt"/>
              </a:rPr>
              <a:t>evitables</a:t>
            </a:r>
            <a:r>
              <a:rPr lang="en-US" dirty="0">
                <a:ea typeface="+mn-lt"/>
                <a:cs typeface="+mn-lt"/>
              </a:rPr>
              <a:t>.</a:t>
            </a:r>
            <a:endParaRPr lang="en-US" dirty="0">
              <a:ea typeface="Calibri" panose="020F0502020204030204"/>
              <a:cs typeface="Calibri" panose="020F0502020204030204"/>
            </a:endParaRPr>
          </a:p>
          <a:p>
            <a:pPr algn="just"/>
            <a:r>
              <a:rPr lang="en-US" b="1" dirty="0" err="1">
                <a:ea typeface="+mn-lt"/>
                <a:cs typeface="+mn-lt"/>
              </a:rPr>
              <a:t>Demoras</a:t>
            </a:r>
            <a:r>
              <a:rPr lang="en-US" b="1" dirty="0">
                <a:ea typeface="+mn-lt"/>
                <a:cs typeface="+mn-lt"/>
              </a:rPr>
              <a:t> </a:t>
            </a:r>
            <a:r>
              <a:rPr lang="en-US" b="1" dirty="0" err="1">
                <a:ea typeface="+mn-lt"/>
                <a:cs typeface="+mn-lt"/>
              </a:rPr>
              <a:t>en</a:t>
            </a:r>
            <a:r>
              <a:rPr lang="en-US" b="1" dirty="0">
                <a:ea typeface="+mn-lt"/>
                <a:cs typeface="+mn-lt"/>
              </a:rPr>
              <a:t> la </a:t>
            </a:r>
            <a:r>
              <a:rPr lang="en-US" b="1" dirty="0" err="1">
                <a:ea typeface="+mn-lt"/>
                <a:cs typeface="+mn-lt"/>
              </a:rPr>
              <a:t>atención</a:t>
            </a:r>
            <a:r>
              <a:rPr lang="en-US" b="1" dirty="0">
                <a:ea typeface="+mn-lt"/>
                <a:cs typeface="+mn-lt"/>
              </a:rPr>
              <a:t> al </a:t>
            </a:r>
            <a:r>
              <a:rPr lang="en-US" b="1" dirty="0" err="1">
                <a:ea typeface="+mn-lt"/>
                <a:cs typeface="+mn-lt"/>
              </a:rPr>
              <a:t>cliente</a:t>
            </a:r>
            <a:r>
              <a:rPr lang="en-US" b="1" dirty="0">
                <a:ea typeface="+mn-lt"/>
                <a:cs typeface="+mn-lt"/>
              </a:rPr>
              <a:t>:</a:t>
            </a:r>
            <a:r>
              <a:rPr lang="en-US" dirty="0">
                <a:ea typeface="+mn-lt"/>
                <a:cs typeface="+mn-lt"/>
              </a:rPr>
              <a:t> Cuando un </a:t>
            </a:r>
            <a:r>
              <a:rPr lang="en-US" dirty="0" err="1">
                <a:ea typeface="+mn-lt"/>
                <a:cs typeface="+mn-lt"/>
              </a:rPr>
              <a:t>cliente</a:t>
            </a:r>
            <a:r>
              <a:rPr lang="en-US" dirty="0">
                <a:ea typeface="+mn-lt"/>
                <a:cs typeface="+mn-lt"/>
              </a:rPr>
              <a:t> </a:t>
            </a:r>
            <a:r>
              <a:rPr lang="en-US" dirty="0" err="1">
                <a:ea typeface="+mn-lt"/>
                <a:cs typeface="+mn-lt"/>
              </a:rPr>
              <a:t>pregunta</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su</a:t>
            </a:r>
            <a:r>
              <a:rPr lang="en-US" dirty="0">
                <a:ea typeface="+mn-lt"/>
                <a:cs typeface="+mn-lt"/>
              </a:rPr>
              <a:t> </a:t>
            </a:r>
            <a:r>
              <a:rPr lang="en-US" dirty="0" err="1">
                <a:ea typeface="+mn-lt"/>
                <a:cs typeface="+mn-lt"/>
              </a:rPr>
              <a:t>mueble</a:t>
            </a:r>
            <a:r>
              <a:rPr lang="en-US" dirty="0">
                <a:ea typeface="+mn-lt"/>
                <a:cs typeface="+mn-lt"/>
              </a:rPr>
              <a:t>, </a:t>
            </a:r>
            <a:r>
              <a:rPr lang="en-US" dirty="0" err="1">
                <a:ea typeface="+mn-lt"/>
                <a:cs typeface="+mn-lt"/>
              </a:rPr>
              <a:t>el</a:t>
            </a:r>
            <a:r>
              <a:rPr lang="en-US" dirty="0">
                <a:ea typeface="+mn-lt"/>
                <a:cs typeface="+mn-lt"/>
              </a:rPr>
              <a:t> </a:t>
            </a:r>
            <a:r>
              <a:rPr lang="en-US" dirty="0" err="1">
                <a:ea typeface="+mn-lt"/>
                <a:cs typeface="+mn-lt"/>
              </a:rPr>
              <a:t>administrador</a:t>
            </a:r>
            <a:r>
              <a:rPr lang="en-US" dirty="0">
                <a:ea typeface="+mn-lt"/>
                <a:cs typeface="+mn-lt"/>
              </a:rPr>
              <a:t> </a:t>
            </a:r>
            <a:r>
              <a:rPr lang="en-US" dirty="0" err="1">
                <a:ea typeface="+mn-lt"/>
                <a:cs typeface="+mn-lt"/>
              </a:rPr>
              <a:t>debe</a:t>
            </a:r>
            <a:r>
              <a:rPr lang="en-US" dirty="0">
                <a:ea typeface="+mn-lt"/>
                <a:cs typeface="+mn-lt"/>
              </a:rPr>
              <a:t> </a:t>
            </a:r>
            <a:r>
              <a:rPr lang="en-US" dirty="0" err="1">
                <a:ea typeface="+mn-lt"/>
                <a:cs typeface="+mn-lt"/>
              </a:rPr>
              <a:t>buscar</a:t>
            </a:r>
            <a:r>
              <a:rPr lang="en-US" dirty="0">
                <a:ea typeface="+mn-lt"/>
                <a:cs typeface="+mn-lt"/>
              </a:rPr>
              <a:t> </a:t>
            </a:r>
            <a:r>
              <a:rPr lang="en-US" dirty="0" err="1">
                <a:ea typeface="+mn-lt"/>
                <a:cs typeface="+mn-lt"/>
              </a:rPr>
              <a:t>manualmente</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el</a:t>
            </a:r>
            <a:r>
              <a:rPr lang="en-US" dirty="0">
                <a:ea typeface="+mn-lt"/>
                <a:cs typeface="+mn-lt"/>
              </a:rPr>
              <a:t> </a:t>
            </a:r>
            <a:r>
              <a:rPr lang="en-US" dirty="0" err="1">
                <a:ea typeface="+mn-lt"/>
                <a:cs typeface="+mn-lt"/>
              </a:rPr>
              <a:t>cuaderno</a:t>
            </a:r>
            <a:r>
              <a:rPr lang="en-US" dirty="0">
                <a:ea typeface="+mn-lt"/>
                <a:cs typeface="+mn-lt"/>
              </a:rPr>
              <a:t> o </a:t>
            </a:r>
            <a:r>
              <a:rPr lang="en-US" dirty="0" err="1">
                <a:ea typeface="+mn-lt"/>
                <a:cs typeface="+mn-lt"/>
              </a:rPr>
              <a:t>consultar</a:t>
            </a:r>
            <a:r>
              <a:rPr lang="en-US" dirty="0">
                <a:ea typeface="+mn-lt"/>
                <a:cs typeface="+mn-lt"/>
              </a:rPr>
              <a:t> </a:t>
            </a:r>
            <a:r>
              <a:rPr lang="en-US" dirty="0" err="1">
                <a:ea typeface="+mn-lt"/>
                <a:cs typeface="+mn-lt"/>
              </a:rPr>
              <a:t>por</a:t>
            </a:r>
            <a:r>
              <a:rPr lang="en-US" dirty="0">
                <a:ea typeface="+mn-lt"/>
                <a:cs typeface="+mn-lt"/>
              </a:rPr>
              <a:t> WhatsApp al </a:t>
            </a:r>
            <a:r>
              <a:rPr lang="en-US" dirty="0" err="1">
                <a:ea typeface="+mn-lt"/>
                <a:cs typeface="+mn-lt"/>
              </a:rPr>
              <a:t>reparador</a:t>
            </a:r>
            <a:r>
              <a:rPr lang="en-US" dirty="0">
                <a:ea typeface="+mn-lt"/>
                <a:cs typeface="+mn-lt"/>
              </a:rPr>
              <a:t>. Este </a:t>
            </a:r>
            <a:r>
              <a:rPr lang="en-US" dirty="0" err="1">
                <a:ea typeface="+mn-lt"/>
                <a:cs typeface="+mn-lt"/>
              </a:rPr>
              <a:t>proceso</a:t>
            </a:r>
            <a:r>
              <a:rPr lang="en-US" dirty="0">
                <a:ea typeface="+mn-lt"/>
                <a:cs typeface="+mn-lt"/>
              </a:rPr>
              <a:t> genera </a:t>
            </a:r>
            <a:r>
              <a:rPr lang="en-US" dirty="0" err="1">
                <a:ea typeface="+mn-lt"/>
                <a:cs typeface="+mn-lt"/>
              </a:rPr>
              <a:t>demoras</a:t>
            </a:r>
            <a:r>
              <a:rPr lang="en-US" dirty="0">
                <a:ea typeface="+mn-lt"/>
                <a:cs typeface="+mn-lt"/>
              </a:rPr>
              <a:t> y </a:t>
            </a:r>
            <a:r>
              <a:rPr lang="en-US" dirty="0" err="1">
                <a:ea typeface="+mn-lt"/>
                <a:cs typeface="+mn-lt"/>
              </a:rPr>
              <a:t>una</a:t>
            </a:r>
            <a:r>
              <a:rPr lang="en-US" dirty="0">
                <a:ea typeface="+mn-lt"/>
                <a:cs typeface="+mn-lt"/>
              </a:rPr>
              <a:t> imagen poco </a:t>
            </a:r>
            <a:r>
              <a:rPr lang="en-US" dirty="0" err="1">
                <a:ea typeface="+mn-lt"/>
                <a:cs typeface="+mn-lt"/>
              </a:rPr>
              <a:t>profesional</a:t>
            </a:r>
            <a:r>
              <a:rPr lang="en-US" dirty="0">
                <a:ea typeface="+mn-lt"/>
                <a:cs typeface="+mn-lt"/>
              </a:rPr>
              <a:t> del </a:t>
            </a:r>
            <a:r>
              <a:rPr lang="en-US" dirty="0" err="1">
                <a:ea typeface="+mn-lt"/>
                <a:cs typeface="+mn-lt"/>
              </a:rPr>
              <a:t>negocio</a:t>
            </a:r>
            <a:r>
              <a:rPr lang="en-US" dirty="0">
                <a:ea typeface="+mn-lt"/>
                <a:cs typeface="+mn-lt"/>
              </a:rPr>
              <a:t>.</a:t>
            </a:r>
            <a:endParaRPr lang="en-US" dirty="0">
              <a:ea typeface="Calibri" panose="020F0502020204030204"/>
              <a:cs typeface="Calibri" panose="020F0502020204030204"/>
            </a:endParaRPr>
          </a:p>
          <a:p>
            <a:pPr algn="just"/>
            <a:r>
              <a:rPr lang="en-US" dirty="0" err="1">
                <a:ea typeface="+mn-lt"/>
                <a:cs typeface="+mn-lt"/>
              </a:rPr>
              <a:t>Según</a:t>
            </a:r>
            <a:r>
              <a:rPr lang="en-US" dirty="0">
                <a:ea typeface="+mn-lt"/>
                <a:cs typeface="+mn-lt"/>
              </a:rPr>
              <a:t> </a:t>
            </a:r>
            <a:r>
              <a:rPr lang="en-US" dirty="0" err="1">
                <a:ea typeface="+mn-lt"/>
                <a:cs typeface="+mn-lt"/>
              </a:rPr>
              <a:t>datos</a:t>
            </a:r>
            <a:r>
              <a:rPr lang="en-US" dirty="0">
                <a:ea typeface="+mn-lt"/>
                <a:cs typeface="+mn-lt"/>
              </a:rPr>
              <a:t> de la Cámara de Comercio de Bogotá, </a:t>
            </a:r>
            <a:r>
              <a:rPr lang="en-US" dirty="0" err="1">
                <a:ea typeface="+mn-lt"/>
                <a:cs typeface="+mn-lt"/>
              </a:rPr>
              <a:t>el</a:t>
            </a:r>
            <a:r>
              <a:rPr lang="en-US" dirty="0">
                <a:ea typeface="+mn-lt"/>
                <a:cs typeface="+mn-lt"/>
              </a:rPr>
              <a:t> 70% de </a:t>
            </a:r>
            <a:r>
              <a:rPr lang="en-US" dirty="0" err="1">
                <a:ea typeface="+mn-lt"/>
                <a:cs typeface="+mn-lt"/>
              </a:rPr>
              <a:t>los</a:t>
            </a:r>
            <a:r>
              <a:rPr lang="en-US" dirty="0">
                <a:ea typeface="+mn-lt"/>
                <a:cs typeface="+mn-lt"/>
              </a:rPr>
              <a:t> </a:t>
            </a:r>
            <a:r>
              <a:rPr lang="en-US" dirty="0" err="1">
                <a:ea typeface="+mn-lt"/>
                <a:cs typeface="+mn-lt"/>
              </a:rPr>
              <a:t>talleres</a:t>
            </a:r>
            <a:r>
              <a:rPr lang="en-US" dirty="0">
                <a:ea typeface="+mn-lt"/>
                <a:cs typeface="+mn-lt"/>
              </a:rPr>
              <a:t> </a:t>
            </a:r>
            <a:r>
              <a:rPr lang="en-US" dirty="0" err="1">
                <a:ea typeface="+mn-lt"/>
                <a:cs typeface="+mn-lt"/>
              </a:rPr>
              <a:t>pequeños</a:t>
            </a:r>
            <a:r>
              <a:rPr lang="en-US" dirty="0">
                <a:ea typeface="+mn-lt"/>
                <a:cs typeface="+mn-lt"/>
              </a:rPr>
              <a:t> del sector </a:t>
            </a:r>
            <a:r>
              <a:rPr lang="en-US" dirty="0" err="1">
                <a:ea typeface="+mn-lt"/>
                <a:cs typeface="+mn-lt"/>
              </a:rPr>
              <a:t>muebles</a:t>
            </a:r>
            <a:r>
              <a:rPr lang="en-US" dirty="0">
                <a:ea typeface="+mn-lt"/>
                <a:cs typeface="+mn-lt"/>
              </a:rPr>
              <a:t> </a:t>
            </a:r>
            <a:r>
              <a:rPr lang="en-US" dirty="0" err="1">
                <a:ea typeface="+mn-lt"/>
                <a:cs typeface="+mn-lt"/>
              </a:rPr>
              <a:t>en</a:t>
            </a:r>
            <a:r>
              <a:rPr lang="en-US" dirty="0">
                <a:ea typeface="+mn-lt"/>
                <a:cs typeface="+mn-lt"/>
              </a:rPr>
              <a:t> Colombia </a:t>
            </a:r>
            <a:r>
              <a:rPr lang="en-US" dirty="0" err="1">
                <a:ea typeface="+mn-lt"/>
                <a:cs typeface="+mn-lt"/>
              </a:rPr>
              <a:t>operan</a:t>
            </a:r>
            <a:r>
              <a:rPr lang="en-US" dirty="0">
                <a:ea typeface="+mn-lt"/>
                <a:cs typeface="+mn-lt"/>
              </a:rPr>
              <a:t> de forma manual. El </a:t>
            </a:r>
            <a:r>
              <a:rPr lang="en-US" dirty="0" err="1">
                <a:ea typeface="+mn-lt"/>
                <a:cs typeface="+mn-lt"/>
              </a:rPr>
              <a:t>presente</a:t>
            </a:r>
            <a:r>
              <a:rPr lang="en-US" dirty="0">
                <a:ea typeface="+mn-lt"/>
                <a:cs typeface="+mn-lt"/>
              </a:rPr>
              <a:t> </a:t>
            </a:r>
            <a:r>
              <a:rPr lang="en-US" dirty="0" err="1">
                <a:ea typeface="+mn-lt"/>
                <a:cs typeface="+mn-lt"/>
              </a:rPr>
              <a:t>proyecto</a:t>
            </a:r>
            <a:r>
              <a:rPr lang="en-US" dirty="0">
                <a:ea typeface="+mn-lt"/>
                <a:cs typeface="+mn-lt"/>
              </a:rPr>
              <a:t> </a:t>
            </a:r>
            <a:r>
              <a:rPr lang="en-US" dirty="0" err="1">
                <a:ea typeface="+mn-lt"/>
                <a:cs typeface="+mn-lt"/>
              </a:rPr>
              <a:t>busca</a:t>
            </a:r>
            <a:r>
              <a:rPr lang="en-US" dirty="0">
                <a:ea typeface="+mn-lt"/>
                <a:cs typeface="+mn-lt"/>
              </a:rPr>
              <a:t> </a:t>
            </a:r>
            <a:r>
              <a:rPr lang="en-US" dirty="0" err="1">
                <a:ea typeface="+mn-lt"/>
                <a:cs typeface="+mn-lt"/>
              </a:rPr>
              <a:t>que</a:t>
            </a:r>
            <a:r>
              <a:rPr lang="en-US" dirty="0">
                <a:ea typeface="+mn-lt"/>
                <a:cs typeface="+mn-lt"/>
              </a:rPr>
              <a:t> La </a:t>
            </a:r>
            <a:r>
              <a:rPr lang="en-US" dirty="0" err="1">
                <a:ea typeface="+mn-lt"/>
                <a:cs typeface="+mn-lt"/>
              </a:rPr>
              <a:t>Caqueteña</a:t>
            </a:r>
            <a:r>
              <a:rPr lang="en-US" dirty="0">
                <a:ea typeface="+mn-lt"/>
                <a:cs typeface="+mn-lt"/>
              </a:rPr>
              <a:t> sea </a:t>
            </a:r>
            <a:r>
              <a:rPr lang="en-US" dirty="0" err="1">
                <a:ea typeface="+mn-lt"/>
                <a:cs typeface="+mn-lt"/>
              </a:rPr>
              <a:t>parte</a:t>
            </a:r>
            <a:r>
              <a:rPr lang="en-US" dirty="0">
                <a:ea typeface="+mn-lt"/>
                <a:cs typeface="+mn-lt"/>
              </a:rPr>
              <a:t> del 30% </a:t>
            </a:r>
            <a:r>
              <a:rPr lang="en-US" dirty="0" err="1">
                <a:ea typeface="+mn-lt"/>
                <a:cs typeface="+mn-lt"/>
              </a:rPr>
              <a:t>que</a:t>
            </a:r>
            <a:r>
              <a:rPr lang="en-US" dirty="0">
                <a:ea typeface="+mn-lt"/>
                <a:cs typeface="+mn-lt"/>
              </a:rPr>
              <a:t> </a:t>
            </a:r>
            <a:r>
              <a:rPr lang="en-US" dirty="0" err="1">
                <a:ea typeface="+mn-lt"/>
                <a:cs typeface="+mn-lt"/>
              </a:rPr>
              <a:t>ya</a:t>
            </a:r>
            <a:r>
              <a:rPr lang="en-US" dirty="0">
                <a:ea typeface="+mn-lt"/>
                <a:cs typeface="+mn-lt"/>
              </a:rPr>
              <a:t> ha dado </a:t>
            </a:r>
            <a:r>
              <a:rPr lang="en-US" dirty="0" err="1">
                <a:ea typeface="+mn-lt"/>
                <a:cs typeface="+mn-lt"/>
              </a:rPr>
              <a:t>el</a:t>
            </a:r>
            <a:r>
              <a:rPr lang="en-US" dirty="0">
                <a:ea typeface="+mn-lt"/>
                <a:cs typeface="+mn-lt"/>
              </a:rPr>
              <a:t> paso </a:t>
            </a:r>
            <a:r>
              <a:rPr lang="en-US" dirty="0" err="1">
                <a:ea typeface="+mn-lt"/>
                <a:cs typeface="+mn-lt"/>
              </a:rPr>
              <a:t>hacia</a:t>
            </a:r>
            <a:r>
              <a:rPr lang="en-US" dirty="0">
                <a:ea typeface="+mn-lt"/>
                <a:cs typeface="+mn-lt"/>
              </a:rPr>
              <a:t> la </a:t>
            </a:r>
            <a:r>
              <a:rPr lang="en-US" dirty="0" err="1">
                <a:ea typeface="+mn-lt"/>
                <a:cs typeface="+mn-lt"/>
              </a:rPr>
              <a:t>digitalización</a:t>
            </a:r>
            <a:r>
              <a:rPr lang="en-US" dirty="0">
                <a:ea typeface="+mn-lt"/>
                <a:cs typeface="+mn-lt"/>
              </a:rPr>
              <a:t>, </a:t>
            </a:r>
            <a:r>
              <a:rPr lang="en-US" b="1" dirty="0" err="1">
                <a:ea typeface="+mn-lt"/>
                <a:cs typeface="+mn-lt"/>
              </a:rPr>
              <a:t>mejorando</a:t>
            </a:r>
            <a:r>
              <a:rPr lang="en-US" b="1" dirty="0">
                <a:ea typeface="+mn-lt"/>
                <a:cs typeface="+mn-lt"/>
              </a:rPr>
              <a:t> </a:t>
            </a:r>
            <a:r>
              <a:rPr lang="en-US" b="1" dirty="0" err="1">
                <a:ea typeface="+mn-lt"/>
                <a:cs typeface="+mn-lt"/>
              </a:rPr>
              <a:t>su</a:t>
            </a:r>
            <a:r>
              <a:rPr lang="en-US" b="1" dirty="0">
                <a:ea typeface="+mn-lt"/>
                <a:cs typeface="+mn-lt"/>
              </a:rPr>
              <a:t> </a:t>
            </a:r>
            <a:r>
              <a:rPr lang="en-US" b="1" dirty="0" err="1">
                <a:ea typeface="+mn-lt"/>
                <a:cs typeface="+mn-lt"/>
              </a:rPr>
              <a:t>organización</a:t>
            </a:r>
            <a:r>
              <a:rPr lang="en-US" b="1" dirty="0">
                <a:ea typeface="+mn-lt"/>
                <a:cs typeface="+mn-lt"/>
              </a:rPr>
              <a:t> interna, </a:t>
            </a:r>
            <a:r>
              <a:rPr lang="en-US" b="1" dirty="0" err="1">
                <a:ea typeface="+mn-lt"/>
                <a:cs typeface="+mn-lt"/>
              </a:rPr>
              <a:t>reduciendo</a:t>
            </a:r>
            <a:r>
              <a:rPr lang="en-US" b="1" dirty="0">
                <a:ea typeface="+mn-lt"/>
                <a:cs typeface="+mn-lt"/>
              </a:rPr>
              <a:t> </a:t>
            </a:r>
            <a:r>
              <a:rPr lang="en-US" b="1" dirty="0" err="1">
                <a:ea typeface="+mn-lt"/>
                <a:cs typeface="+mn-lt"/>
              </a:rPr>
              <a:t>costos</a:t>
            </a:r>
            <a:r>
              <a:rPr lang="en-US" b="1" dirty="0">
                <a:ea typeface="+mn-lt"/>
                <a:cs typeface="+mn-lt"/>
              </a:rPr>
              <a:t> </a:t>
            </a:r>
            <a:r>
              <a:rPr lang="en-US" b="1" dirty="0" err="1">
                <a:ea typeface="+mn-lt"/>
                <a:cs typeface="+mn-lt"/>
              </a:rPr>
              <a:t>operativos</a:t>
            </a:r>
            <a:r>
              <a:rPr lang="en-US" b="1" dirty="0">
                <a:ea typeface="+mn-lt"/>
                <a:cs typeface="+mn-lt"/>
              </a:rPr>
              <a:t> y </a:t>
            </a:r>
            <a:r>
              <a:rPr lang="en-US" b="1" dirty="0" err="1">
                <a:ea typeface="+mn-lt"/>
                <a:cs typeface="+mn-lt"/>
              </a:rPr>
              <a:t>aumentando</a:t>
            </a:r>
            <a:r>
              <a:rPr lang="en-US" b="1" dirty="0">
                <a:ea typeface="+mn-lt"/>
                <a:cs typeface="+mn-lt"/>
              </a:rPr>
              <a:t> la </a:t>
            </a:r>
            <a:r>
              <a:rPr lang="en-US" b="1" dirty="0" err="1">
                <a:ea typeface="+mn-lt"/>
                <a:cs typeface="+mn-lt"/>
              </a:rPr>
              <a:t>satisfacción</a:t>
            </a:r>
            <a:r>
              <a:rPr lang="en-US" b="1" dirty="0">
                <a:ea typeface="+mn-lt"/>
                <a:cs typeface="+mn-lt"/>
              </a:rPr>
              <a:t> de sus </a:t>
            </a:r>
            <a:r>
              <a:rPr lang="en-US" b="1" dirty="0" err="1">
                <a:ea typeface="+mn-lt"/>
                <a:cs typeface="+mn-lt"/>
              </a:rPr>
              <a:t>clientes</a:t>
            </a:r>
            <a:r>
              <a:rPr lang="en-US" dirty="0">
                <a:ea typeface="+mn-lt"/>
                <a:cs typeface="+mn-lt"/>
              </a:rPr>
              <a:t> </a:t>
            </a:r>
            <a:r>
              <a:rPr lang="en-US" dirty="0" err="1">
                <a:ea typeface="+mn-lt"/>
                <a:cs typeface="+mn-lt"/>
              </a:rPr>
              <a:t>mediante</a:t>
            </a:r>
            <a:r>
              <a:rPr lang="en-US" dirty="0">
                <a:ea typeface="+mn-lt"/>
                <a:cs typeface="+mn-lt"/>
              </a:rPr>
              <a:t> un </a:t>
            </a:r>
            <a:r>
              <a:rPr lang="en-US" dirty="0" err="1">
                <a:ea typeface="+mn-lt"/>
                <a:cs typeface="+mn-lt"/>
              </a:rPr>
              <a:t>sistema</a:t>
            </a:r>
            <a:r>
              <a:rPr lang="en-US" dirty="0">
                <a:ea typeface="+mn-lt"/>
                <a:cs typeface="+mn-lt"/>
              </a:rPr>
              <a:t> </a:t>
            </a:r>
            <a:r>
              <a:rPr lang="en-US" dirty="0" err="1">
                <a:ea typeface="+mn-lt"/>
                <a:cs typeface="+mn-lt"/>
              </a:rPr>
              <a:t>diseñado</a:t>
            </a:r>
            <a:r>
              <a:rPr lang="en-US" dirty="0">
                <a:ea typeface="+mn-lt"/>
                <a:cs typeface="+mn-lt"/>
              </a:rPr>
              <a:t> </a:t>
            </a:r>
            <a:r>
              <a:rPr lang="en-US" dirty="0" err="1">
                <a:ea typeface="+mn-lt"/>
                <a:cs typeface="+mn-lt"/>
              </a:rPr>
              <a:t>específicamente</a:t>
            </a:r>
            <a:r>
              <a:rPr lang="en-US" dirty="0">
                <a:ea typeface="+mn-lt"/>
                <a:cs typeface="+mn-lt"/>
              </a:rPr>
              <a:t> para </a:t>
            </a:r>
            <a:r>
              <a:rPr lang="en-US" dirty="0" err="1">
                <a:ea typeface="+mn-lt"/>
                <a:cs typeface="+mn-lt"/>
              </a:rPr>
              <a:t>su</a:t>
            </a:r>
            <a:r>
              <a:rPr lang="en-US" dirty="0">
                <a:ea typeface="+mn-lt"/>
                <a:cs typeface="+mn-lt"/>
              </a:rPr>
              <a:t> </a:t>
            </a:r>
            <a:r>
              <a:rPr lang="en-US" dirty="0" err="1">
                <a:ea typeface="+mn-lt"/>
                <a:cs typeface="+mn-lt"/>
              </a:rPr>
              <a:t>operación</a:t>
            </a:r>
            <a:r>
              <a:rPr lang="en-US" dirty="0">
                <a:ea typeface="+mn-lt"/>
                <a:cs typeface="+mn-lt"/>
              </a:rPr>
              <a:t>.</a:t>
            </a:r>
            <a:endParaRPr lang="en-US" dirty="0">
              <a:ea typeface="Calibri" panose="020F0502020204030204"/>
              <a:cs typeface="Calibri" panose="020F0502020204030204"/>
            </a:endParaRPr>
          </a:p>
          <a:p>
            <a:pPr algn="just"/>
            <a:endParaRPr lang="en-US" b="1" dirty="0">
              <a:ea typeface="Calibri"/>
              <a:cs typeface="Calibri"/>
            </a:endParaRPr>
          </a:p>
        </p:txBody>
      </p:sp>
      <p:sp>
        <p:nvSpPr>
          <p:cNvPr id="5" name="Título 4">
            <a:extLst>
              <a:ext uri="{FF2B5EF4-FFF2-40B4-BE49-F238E27FC236}">
                <a16:creationId xmlns:a16="http://schemas.microsoft.com/office/drawing/2014/main" id="{28AFEF21-5F9B-B347-ED90-6712D22AEBFA}"/>
              </a:ext>
            </a:extLst>
          </p:cNvPr>
          <p:cNvSpPr>
            <a:spLocks noGrp="1"/>
          </p:cNvSpPr>
          <p:nvPr>
            <p:ph type="title"/>
          </p:nvPr>
        </p:nvSpPr>
        <p:spPr>
          <a:xfrm>
            <a:off x="911646" y="117245"/>
            <a:ext cx="10515600" cy="1325563"/>
          </a:xfrm>
        </p:spPr>
        <p:txBody>
          <a:bodyPr/>
          <a:lstStyle/>
          <a:p>
            <a:pPr algn="ctr"/>
            <a:r>
              <a:rPr lang="es-ES" b="1">
                <a:solidFill>
                  <a:schemeClr val="bg1"/>
                </a:solidFill>
                <a:latin typeface="Work Sans Medium"/>
                <a:ea typeface="Calibri Light"/>
                <a:cs typeface="Calibri Light"/>
              </a:rPr>
              <a:t>Justificación</a:t>
            </a:r>
            <a:r>
              <a:rPr lang="es-ES" b="1" dirty="0">
                <a:solidFill>
                  <a:schemeClr val="bg1"/>
                </a:solidFill>
                <a:latin typeface="Work Sans Medium"/>
                <a:ea typeface="Calibri Light"/>
                <a:cs typeface="Calibri Light"/>
              </a:rPr>
              <a:t> </a:t>
            </a:r>
            <a:endParaRPr lang="es-ES" b="1">
              <a:solidFill>
                <a:schemeClr val="bg1"/>
              </a:solidFill>
              <a:latin typeface="Work Sans Medium"/>
            </a:endParaRPr>
          </a:p>
        </p:txBody>
      </p:sp>
    </p:spTree>
    <p:extLst>
      <p:ext uri="{BB962C8B-B14F-4D97-AF65-F5344CB8AC3E}">
        <p14:creationId xmlns:p14="http://schemas.microsoft.com/office/powerpoint/2010/main" val="2211944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92A513-4F30-009B-FD00-589CE3BE44C0}"/>
              </a:ext>
            </a:extLst>
          </p:cNvPr>
          <p:cNvSpPr>
            <a:spLocks noGrp="1"/>
          </p:cNvSpPr>
          <p:nvPr>
            <p:ph type="title"/>
          </p:nvPr>
        </p:nvSpPr>
        <p:spPr>
          <a:xfrm>
            <a:off x="3134226" y="94415"/>
            <a:ext cx="10515600" cy="1325563"/>
          </a:xfrm>
        </p:spPr>
        <p:txBody>
          <a:bodyPr/>
          <a:lstStyle/>
          <a:p>
            <a:r>
              <a:rPr lang="es-CO" b="1">
                <a:solidFill>
                  <a:schemeClr val="bg1"/>
                </a:solidFill>
                <a:latin typeface="Work Sans Medium"/>
              </a:rPr>
              <a:t>Pregunta problema</a:t>
            </a:r>
            <a:endParaRPr lang="es-ES">
              <a:solidFill>
                <a:schemeClr val="bg1"/>
              </a:solidFill>
            </a:endParaRPr>
          </a:p>
        </p:txBody>
      </p:sp>
      <p:sp>
        <p:nvSpPr>
          <p:cNvPr id="3" name="CuadroTexto 2">
            <a:extLst>
              <a:ext uri="{FF2B5EF4-FFF2-40B4-BE49-F238E27FC236}">
                <a16:creationId xmlns:a16="http://schemas.microsoft.com/office/drawing/2014/main" id="{6F217712-E060-F218-1D03-88FD41C5E2B8}"/>
              </a:ext>
            </a:extLst>
          </p:cNvPr>
          <p:cNvSpPr txBox="1"/>
          <p:nvPr/>
        </p:nvSpPr>
        <p:spPr>
          <a:xfrm>
            <a:off x="1240685" y="2222119"/>
            <a:ext cx="992605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baseline="0" dirty="0">
                <a:ea typeface="+mn-lt"/>
                <a:cs typeface="+mn-lt"/>
              </a:rPr>
              <a:t>¿Cómo </a:t>
            </a:r>
            <a:r>
              <a:rPr lang="es-ES" dirty="0">
                <a:ea typeface="+mn-lt"/>
                <a:cs typeface="+mn-lt"/>
              </a:rPr>
              <a:t>puede un sistema web integrado centralizar </a:t>
            </a:r>
            <a:r>
              <a:rPr lang="es-ES" baseline="0" dirty="0">
                <a:ea typeface="+mn-lt"/>
                <a:cs typeface="+mn-lt"/>
              </a:rPr>
              <a:t>la gestión de </a:t>
            </a:r>
            <a:r>
              <a:rPr lang="es-ES" dirty="0">
                <a:ea typeface="+mn-lt"/>
                <a:cs typeface="+mn-lt"/>
              </a:rPr>
              <a:t>clientes, el seguimiento de órdenes de reparación y el control de inventario de insumos del </a:t>
            </a:r>
            <a:r>
              <a:rPr lang="es-ES" baseline="0" dirty="0">
                <a:ea typeface="+mn-lt"/>
                <a:cs typeface="+mn-lt"/>
              </a:rPr>
              <a:t>taller </a:t>
            </a:r>
            <a:r>
              <a:rPr lang="es-ES" dirty="0">
                <a:ea typeface="+mn-lt"/>
                <a:cs typeface="+mn-lt"/>
              </a:rPr>
              <a:t>La Caqueteña, reemplazando el uso </a:t>
            </a:r>
            <a:r>
              <a:rPr lang="es-ES" baseline="0" dirty="0">
                <a:ea typeface="+mn-lt"/>
                <a:cs typeface="+mn-lt"/>
              </a:rPr>
              <a:t>de cuadernos</a:t>
            </a:r>
            <a:r>
              <a:rPr lang="es-ES" dirty="0">
                <a:ea typeface="+mn-lt"/>
                <a:cs typeface="+mn-lt"/>
              </a:rPr>
              <a:t>, para reducir </a:t>
            </a:r>
            <a:r>
              <a:rPr lang="es-ES" baseline="0" dirty="0">
                <a:ea typeface="+mn-lt"/>
                <a:cs typeface="+mn-lt"/>
              </a:rPr>
              <a:t>errores</a:t>
            </a:r>
            <a:r>
              <a:rPr lang="es-ES" dirty="0">
                <a:ea typeface="+mn-lt"/>
                <a:cs typeface="+mn-lt"/>
              </a:rPr>
              <a:t> operativos </a:t>
            </a:r>
            <a:r>
              <a:rPr lang="es-ES" baseline="0" dirty="0">
                <a:ea typeface="+mn-lt"/>
                <a:cs typeface="+mn-lt"/>
              </a:rPr>
              <a:t>y </a:t>
            </a:r>
            <a:r>
              <a:rPr lang="es-ES" dirty="0">
                <a:ea typeface="+mn-lt"/>
                <a:cs typeface="+mn-lt"/>
              </a:rPr>
              <a:t>mejorar la trazabilidad del proceso</a:t>
            </a:r>
            <a:r>
              <a:rPr lang="es-ES" baseline="0" dirty="0">
                <a:ea typeface="+mn-lt"/>
                <a:cs typeface="+mn-lt"/>
              </a:rPr>
              <a:t>?</a:t>
            </a:r>
            <a:endParaRPr lang="es-ES" dirty="0"/>
          </a:p>
        </p:txBody>
      </p:sp>
      <p:pic>
        <p:nvPicPr>
          <p:cNvPr id="4" name="Imagen 3">
            <a:extLst>
              <a:ext uri="{FF2B5EF4-FFF2-40B4-BE49-F238E27FC236}">
                <a16:creationId xmlns:a16="http://schemas.microsoft.com/office/drawing/2014/main" id="{ADA61ABC-94D0-AAE2-A190-E639841AFDE2}"/>
              </a:ext>
            </a:extLst>
          </p:cNvPr>
          <p:cNvPicPr>
            <a:picLocks noChangeAspect="1"/>
          </p:cNvPicPr>
          <p:nvPr/>
        </p:nvPicPr>
        <p:blipFill>
          <a:blip r:embed="rId2"/>
          <a:stretch>
            <a:fillRect/>
          </a:stretch>
        </p:blipFill>
        <p:spPr>
          <a:xfrm>
            <a:off x="3135086" y="3781286"/>
            <a:ext cx="4865916" cy="2267229"/>
          </a:xfrm>
          <a:prstGeom prst="rect">
            <a:avLst/>
          </a:prstGeom>
        </p:spPr>
      </p:pic>
    </p:spTree>
    <p:extLst>
      <p:ext uri="{BB962C8B-B14F-4D97-AF65-F5344CB8AC3E}">
        <p14:creationId xmlns:p14="http://schemas.microsoft.com/office/powerpoint/2010/main" val="3326228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Contenido 2"/>
          <p:cNvSpPr txBox="1"/>
          <p:nvPr/>
        </p:nvSpPr>
        <p:spPr>
          <a:xfrm>
            <a:off x="731816" y="2221654"/>
            <a:ext cx="4881096" cy="4634686"/>
          </a:xfrm>
          <a:prstGeom prst="rect">
            <a:avLst/>
          </a:prstGeom>
          <a:noFill/>
        </p:spPr>
        <p:txBody>
          <a:bodyPr wrap="square" lIns="91440" tIns="45720" rIns="91440" bIns="45720" rtlCol="0" anchor="t">
            <a:normAutofit/>
          </a:bodyPr>
          <a:lstStyle/>
          <a:p>
            <a:pPr algn="l">
              <a:buNone/>
            </a:pPr>
            <a:endParaRPr lang="es-CO" b="1" dirty="0">
              <a:solidFill>
                <a:srgbClr val="38AA00"/>
              </a:solidFill>
              <a:latin typeface="Calibri"/>
              <a:ea typeface="Calibri"/>
              <a:cs typeface="Calibri"/>
            </a:endParaRPr>
          </a:p>
          <a:p>
            <a:pPr algn="just"/>
            <a:r>
              <a:rPr lang="es-CO" dirty="0">
                <a:ea typeface="+mn-lt"/>
                <a:cs typeface="+mn-lt"/>
              </a:rPr>
              <a:t>Desarrollar un sistema web de gestión integral que reemplace el uso de cuadernos físicos, centralizando en una sola plataforma la gestión de usuarios y roles, el registro de clientes y órdenes de reparación, el seguimiento del proceso productivo, el control de inventario de insumos y la generación de reportes operativos, con el fin de reducir errores, eliminar la pérdida de información y mejorar la trazabilidad de cada mueble desde su recepción hasta su entrega.</a:t>
            </a:r>
            <a:endParaRPr lang="es-CO" dirty="0">
              <a:ea typeface="Calibri"/>
              <a:cs typeface="Calibri"/>
            </a:endParaRPr>
          </a:p>
          <a:p>
            <a:pPr algn="just">
              <a:buNone/>
            </a:pPr>
            <a:endParaRPr lang="es-CO" dirty="0">
              <a:latin typeface="Calibri"/>
              <a:ea typeface="Calibri"/>
              <a:cs typeface="Calibri"/>
            </a:endParaRPr>
          </a:p>
        </p:txBody>
      </p:sp>
      <p:sp>
        <p:nvSpPr>
          <p:cNvPr id="5" name="CuadroTexto 4">
            <a:extLst>
              <a:ext uri="{FF2B5EF4-FFF2-40B4-BE49-F238E27FC236}">
                <a16:creationId xmlns:a16="http://schemas.microsoft.com/office/drawing/2014/main" id="{48B7A018-5CDB-81B0-1246-7BBB03646950}"/>
              </a:ext>
            </a:extLst>
          </p:cNvPr>
          <p:cNvSpPr txBox="1"/>
          <p:nvPr/>
        </p:nvSpPr>
        <p:spPr>
          <a:xfrm>
            <a:off x="578948" y="416808"/>
            <a:ext cx="11027228"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CO" sz="4400" b="1">
                <a:solidFill>
                  <a:srgbClr val="38AA00"/>
                </a:solidFill>
                <a:latin typeface="Work Sans Medium"/>
              </a:rPr>
              <a:t>Objetivo</a:t>
            </a:r>
            <a:r>
              <a:rPr lang="es-CO" sz="4400" b="1" dirty="0">
                <a:solidFill>
                  <a:srgbClr val="38AA00"/>
                </a:solidFill>
                <a:latin typeface="Work Sans Medium"/>
              </a:rPr>
              <a:t> General </a:t>
            </a:r>
          </a:p>
          <a:p>
            <a:pPr algn="ctr"/>
            <a:endParaRPr lang="es-ES"/>
          </a:p>
        </p:txBody>
      </p:sp>
      <p:pic>
        <p:nvPicPr>
          <p:cNvPr id="6" name="Imagen 5" descr="Un hombre sentado en un escritorio con una computadora portátil&#10;&#10;El contenido generado por IA puede ser incorrecto.">
            <a:extLst>
              <a:ext uri="{FF2B5EF4-FFF2-40B4-BE49-F238E27FC236}">
                <a16:creationId xmlns:a16="http://schemas.microsoft.com/office/drawing/2014/main" id="{D80B583C-0D65-88D5-8B48-3A8BF7BAFCE1}"/>
              </a:ext>
            </a:extLst>
          </p:cNvPr>
          <p:cNvPicPr>
            <a:picLocks noChangeAspect="1"/>
          </p:cNvPicPr>
          <p:nvPr/>
        </p:nvPicPr>
        <p:blipFill>
          <a:blip r:embed="rId3"/>
          <a:stretch>
            <a:fillRect/>
          </a:stretch>
        </p:blipFill>
        <p:spPr>
          <a:xfrm>
            <a:off x="6362020" y="1971675"/>
            <a:ext cx="5063218" cy="29146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D7C415-2D07-1F8B-4CB8-F420BE93C79D}"/>
              </a:ext>
            </a:extLst>
          </p:cNvPr>
          <p:cNvSpPr>
            <a:spLocks noGrp="1"/>
          </p:cNvSpPr>
          <p:nvPr>
            <p:ph type="title"/>
          </p:nvPr>
        </p:nvSpPr>
        <p:spPr>
          <a:xfrm>
            <a:off x="838200" y="134520"/>
            <a:ext cx="10515600" cy="1325563"/>
          </a:xfrm>
        </p:spPr>
        <p:txBody>
          <a:bodyPr/>
          <a:lstStyle/>
          <a:p>
            <a:pPr algn="ctr"/>
            <a:r>
              <a:rPr lang="es-ES" b="1" dirty="0">
                <a:solidFill>
                  <a:schemeClr val="bg1"/>
                </a:solidFill>
                <a:latin typeface="Work Sans Light"/>
                <a:ea typeface="Calibri Light"/>
                <a:cs typeface="Calibri Light"/>
              </a:rPr>
              <a:t>Objetivos Especí</a:t>
            </a:r>
            <a:r>
              <a:rPr lang="es-ES" b="1">
                <a:solidFill>
                  <a:schemeClr val="bg1"/>
                </a:solidFill>
                <a:latin typeface="Work Sans Light"/>
                <a:ea typeface="Calibri Light"/>
                <a:cs typeface="Calibri Light"/>
              </a:rPr>
              <a:t>ficos</a:t>
            </a:r>
          </a:p>
        </p:txBody>
      </p:sp>
      <p:sp>
        <p:nvSpPr>
          <p:cNvPr id="3" name="CuadroTexto 2">
            <a:extLst>
              <a:ext uri="{FF2B5EF4-FFF2-40B4-BE49-F238E27FC236}">
                <a16:creationId xmlns:a16="http://schemas.microsoft.com/office/drawing/2014/main" id="{49497BE0-8C22-9736-8451-158AE54D9FE0}"/>
              </a:ext>
            </a:extLst>
          </p:cNvPr>
          <p:cNvSpPr txBox="1"/>
          <p:nvPr/>
        </p:nvSpPr>
        <p:spPr>
          <a:xfrm>
            <a:off x="518348" y="1714500"/>
            <a:ext cx="1090875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ea typeface="+mn-lt"/>
                <a:cs typeface="+mn-lt"/>
              </a:rPr>
              <a:t>01.</a:t>
            </a:r>
            <a:r>
              <a:rPr lang="en-US" dirty="0">
                <a:ea typeface="+mn-lt"/>
                <a:cs typeface="+mn-lt"/>
              </a:rPr>
              <a:t> </a:t>
            </a:r>
            <a:r>
              <a:rPr lang="en-US" dirty="0" err="1">
                <a:ea typeface="+mn-lt"/>
                <a:cs typeface="+mn-lt"/>
              </a:rPr>
              <a:t>Migrar</a:t>
            </a:r>
            <a:r>
              <a:rPr lang="en-US" dirty="0">
                <a:ea typeface="+mn-lt"/>
                <a:cs typeface="+mn-lt"/>
              </a:rPr>
              <a:t> la </a:t>
            </a:r>
            <a:r>
              <a:rPr lang="en-US" dirty="0" err="1">
                <a:ea typeface="+mn-lt"/>
                <a:cs typeface="+mn-lt"/>
              </a:rPr>
              <a:t>información</a:t>
            </a:r>
            <a:r>
              <a:rPr lang="en-US" dirty="0">
                <a:ea typeface="+mn-lt"/>
                <a:cs typeface="+mn-lt"/>
              </a:rPr>
              <a:t> de </a:t>
            </a:r>
            <a:r>
              <a:rPr lang="en-US" dirty="0" err="1">
                <a:ea typeface="+mn-lt"/>
                <a:cs typeface="+mn-lt"/>
              </a:rPr>
              <a:t>cuadernos</a:t>
            </a:r>
            <a:r>
              <a:rPr lang="en-US" dirty="0">
                <a:ea typeface="+mn-lt"/>
                <a:cs typeface="+mn-lt"/>
              </a:rPr>
              <a:t> </a:t>
            </a:r>
            <a:r>
              <a:rPr lang="en-US" dirty="0" err="1">
                <a:ea typeface="+mn-lt"/>
                <a:cs typeface="+mn-lt"/>
              </a:rPr>
              <a:t>físicos</a:t>
            </a:r>
            <a:r>
              <a:rPr lang="en-US" dirty="0">
                <a:ea typeface="+mn-lt"/>
                <a:cs typeface="+mn-lt"/>
              </a:rPr>
              <a:t> a </a:t>
            </a:r>
            <a:r>
              <a:rPr lang="en-US" dirty="0" err="1">
                <a:ea typeface="+mn-lt"/>
                <a:cs typeface="+mn-lt"/>
              </a:rPr>
              <a:t>una</a:t>
            </a:r>
            <a:r>
              <a:rPr lang="en-US" dirty="0">
                <a:ea typeface="+mn-lt"/>
                <a:cs typeface="+mn-lt"/>
              </a:rPr>
              <a:t> base de </a:t>
            </a:r>
            <a:r>
              <a:rPr lang="en-US" dirty="0" err="1">
                <a:ea typeface="+mn-lt"/>
                <a:cs typeface="+mn-lt"/>
              </a:rPr>
              <a:t>datos</a:t>
            </a:r>
            <a:r>
              <a:rPr lang="en-US" dirty="0">
                <a:ea typeface="+mn-lt"/>
                <a:cs typeface="+mn-lt"/>
              </a:rPr>
              <a:t> </a:t>
            </a:r>
            <a:r>
              <a:rPr lang="en-US" dirty="0" err="1">
                <a:ea typeface="+mn-lt"/>
                <a:cs typeface="+mn-lt"/>
              </a:rPr>
              <a:t>centralizada</a:t>
            </a:r>
            <a:r>
              <a:rPr lang="en-US" dirty="0">
                <a:ea typeface="+mn-lt"/>
                <a:cs typeface="+mn-lt"/>
              </a:rPr>
              <a:t> con </a:t>
            </a:r>
            <a:r>
              <a:rPr lang="en-US" dirty="0" err="1">
                <a:ea typeface="+mn-lt"/>
                <a:cs typeface="+mn-lt"/>
              </a:rPr>
              <a:t>acceso</a:t>
            </a:r>
            <a:r>
              <a:rPr lang="en-US" dirty="0">
                <a:ea typeface="+mn-lt"/>
                <a:cs typeface="+mn-lt"/>
              </a:rPr>
              <a:t> </a:t>
            </a:r>
            <a:r>
              <a:rPr lang="en-US" dirty="0" err="1">
                <a:ea typeface="+mn-lt"/>
                <a:cs typeface="+mn-lt"/>
              </a:rPr>
              <a:t>multiusuario</a:t>
            </a:r>
            <a:r>
              <a:rPr lang="en-US" dirty="0">
                <a:ea typeface="+mn-lt"/>
                <a:cs typeface="+mn-lt"/>
              </a:rPr>
              <a:t> e </a:t>
            </a:r>
            <a:r>
              <a:rPr lang="en-US" dirty="0" err="1">
                <a:ea typeface="+mn-lt"/>
                <a:cs typeface="+mn-lt"/>
              </a:rPr>
              <a:t>integridad</a:t>
            </a:r>
            <a:r>
              <a:rPr lang="en-US" dirty="0">
                <a:ea typeface="+mn-lt"/>
                <a:cs typeface="+mn-lt"/>
              </a:rPr>
              <a:t> de </a:t>
            </a:r>
            <a:r>
              <a:rPr lang="en-US" dirty="0" err="1">
                <a:ea typeface="+mn-lt"/>
                <a:cs typeface="+mn-lt"/>
              </a:rPr>
              <a:t>datos</a:t>
            </a:r>
            <a:r>
              <a:rPr lang="en-US" dirty="0">
                <a:ea typeface="+mn-lt"/>
                <a:cs typeface="+mn-lt"/>
              </a:rPr>
              <a:t>, </a:t>
            </a:r>
            <a:r>
              <a:rPr lang="en-US" dirty="0" err="1">
                <a:ea typeface="+mn-lt"/>
                <a:cs typeface="+mn-lt"/>
              </a:rPr>
              <a:t>garantizando</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ninguna</a:t>
            </a:r>
            <a:r>
              <a:rPr lang="en-US" dirty="0">
                <a:ea typeface="+mn-lt"/>
                <a:cs typeface="+mn-lt"/>
              </a:rPr>
              <a:t> </a:t>
            </a:r>
            <a:r>
              <a:rPr lang="en-US" dirty="0" err="1">
                <a:ea typeface="+mn-lt"/>
                <a:cs typeface="+mn-lt"/>
              </a:rPr>
              <a:t>información</a:t>
            </a:r>
            <a:r>
              <a:rPr lang="en-US" dirty="0">
                <a:ea typeface="+mn-lt"/>
                <a:cs typeface="+mn-lt"/>
              </a:rPr>
              <a:t> del taller se </a:t>
            </a:r>
            <a:r>
              <a:rPr lang="en-US" dirty="0" err="1">
                <a:ea typeface="+mn-lt"/>
                <a:cs typeface="+mn-lt"/>
              </a:rPr>
              <a:t>pierda</a:t>
            </a:r>
            <a:r>
              <a:rPr lang="en-US" dirty="0">
                <a:ea typeface="+mn-lt"/>
                <a:cs typeface="+mn-lt"/>
              </a:rPr>
              <a:t>.</a:t>
            </a:r>
            <a:endParaRPr lang="es-ES" dirty="0">
              <a:ea typeface="Calibri" panose="020F0502020204030204"/>
              <a:cs typeface="Calibri" panose="020F0502020204030204"/>
            </a:endParaRPr>
          </a:p>
          <a:p>
            <a:pPr algn="just"/>
            <a:endParaRPr lang="en-US" dirty="0">
              <a:ea typeface="+mn-lt"/>
              <a:cs typeface="+mn-lt"/>
            </a:endParaRPr>
          </a:p>
          <a:p>
            <a:pPr algn="just"/>
            <a:r>
              <a:rPr lang="en-US" b="1" dirty="0">
                <a:ea typeface="+mn-lt"/>
                <a:cs typeface="+mn-lt"/>
              </a:rPr>
              <a:t>02.</a:t>
            </a:r>
            <a:r>
              <a:rPr lang="en-US" dirty="0">
                <a:ea typeface="+mn-lt"/>
                <a:cs typeface="+mn-lt"/>
              </a:rPr>
              <a:t> Registrar y </a:t>
            </a:r>
            <a:r>
              <a:rPr lang="en-US" dirty="0" err="1">
                <a:ea typeface="+mn-lt"/>
                <a:cs typeface="+mn-lt"/>
              </a:rPr>
              <a:t>gestionar</a:t>
            </a:r>
            <a:r>
              <a:rPr lang="en-US" dirty="0">
                <a:ea typeface="+mn-lt"/>
                <a:cs typeface="+mn-lt"/>
              </a:rPr>
              <a:t> </a:t>
            </a:r>
            <a:r>
              <a:rPr lang="en-US" dirty="0" err="1">
                <a:ea typeface="+mn-lt"/>
                <a:cs typeface="+mn-lt"/>
              </a:rPr>
              <a:t>clientes</a:t>
            </a:r>
            <a:r>
              <a:rPr lang="en-US" dirty="0">
                <a:ea typeface="+mn-lt"/>
                <a:cs typeface="+mn-lt"/>
              </a:rPr>
              <a:t> y </a:t>
            </a:r>
            <a:r>
              <a:rPr lang="en-US" dirty="0" err="1">
                <a:ea typeface="+mn-lt"/>
                <a:cs typeface="+mn-lt"/>
              </a:rPr>
              <a:t>órdenes</a:t>
            </a:r>
            <a:r>
              <a:rPr lang="en-US" dirty="0">
                <a:ea typeface="+mn-lt"/>
                <a:cs typeface="+mn-lt"/>
              </a:rPr>
              <a:t> de </a:t>
            </a:r>
            <a:r>
              <a:rPr lang="en-US" dirty="0" err="1">
                <a:ea typeface="+mn-lt"/>
                <a:cs typeface="+mn-lt"/>
              </a:rPr>
              <a:t>reparación</a:t>
            </a:r>
            <a:r>
              <a:rPr lang="en-US" dirty="0">
                <a:ea typeface="+mn-lt"/>
                <a:cs typeface="+mn-lt"/>
              </a:rPr>
              <a:t> con </a:t>
            </a:r>
            <a:r>
              <a:rPr lang="en-US" dirty="0" err="1">
                <a:ea typeface="+mn-lt"/>
                <a:cs typeface="+mn-lt"/>
              </a:rPr>
              <a:t>categorización</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tipo</a:t>
            </a:r>
            <a:r>
              <a:rPr lang="en-US" dirty="0">
                <a:ea typeface="+mn-lt"/>
                <a:cs typeface="+mn-lt"/>
              </a:rPr>
              <a:t> de </a:t>
            </a:r>
            <a:r>
              <a:rPr lang="en-US" dirty="0" err="1">
                <a:ea typeface="+mn-lt"/>
                <a:cs typeface="+mn-lt"/>
              </a:rPr>
              <a:t>mueble</a:t>
            </a:r>
            <a:r>
              <a:rPr lang="en-US" dirty="0">
                <a:ea typeface="+mn-lt"/>
                <a:cs typeface="+mn-lt"/>
              </a:rPr>
              <a:t> (</a:t>
            </a:r>
            <a:r>
              <a:rPr lang="en-US" dirty="0" err="1">
                <a:ea typeface="+mn-lt"/>
                <a:cs typeface="+mn-lt"/>
              </a:rPr>
              <a:t>madera</a:t>
            </a:r>
            <a:r>
              <a:rPr lang="en-US" dirty="0">
                <a:ea typeface="+mn-lt"/>
                <a:cs typeface="+mn-lt"/>
              </a:rPr>
              <a:t> </a:t>
            </a:r>
            <a:r>
              <a:rPr lang="en-US" dirty="0" err="1">
                <a:ea typeface="+mn-lt"/>
                <a:cs typeface="+mn-lt"/>
              </a:rPr>
              <a:t>maciza</a:t>
            </a:r>
            <a:r>
              <a:rPr lang="en-US" dirty="0">
                <a:ea typeface="+mn-lt"/>
                <a:cs typeface="+mn-lt"/>
              </a:rPr>
              <a:t>, </a:t>
            </a:r>
            <a:r>
              <a:rPr lang="en-US" dirty="0" err="1">
                <a:ea typeface="+mn-lt"/>
                <a:cs typeface="+mn-lt"/>
              </a:rPr>
              <a:t>tapizado</a:t>
            </a:r>
            <a:r>
              <a:rPr lang="en-US" dirty="0">
                <a:ea typeface="+mn-lt"/>
                <a:cs typeface="+mn-lt"/>
              </a:rPr>
              <a:t>, modular, </a:t>
            </a:r>
            <a:r>
              <a:rPr lang="en-US" dirty="0" err="1">
                <a:ea typeface="+mn-lt"/>
                <a:cs typeface="+mn-lt"/>
              </a:rPr>
              <a:t>antiguo</a:t>
            </a:r>
            <a:r>
              <a:rPr lang="en-US" dirty="0">
                <a:ea typeface="+mn-lt"/>
                <a:cs typeface="+mn-lt"/>
              </a:rPr>
              <a:t>, </a:t>
            </a:r>
            <a:r>
              <a:rPr lang="en-US" dirty="0" err="1">
                <a:ea typeface="+mn-lt"/>
                <a:cs typeface="+mn-lt"/>
              </a:rPr>
              <a:t>daño</a:t>
            </a:r>
            <a:r>
              <a:rPr lang="en-US" dirty="0">
                <a:ea typeface="+mn-lt"/>
                <a:cs typeface="+mn-lt"/>
              </a:rPr>
              <a:t> </a:t>
            </a:r>
            <a:r>
              <a:rPr lang="en-US" dirty="0" err="1">
                <a:ea typeface="+mn-lt"/>
                <a:cs typeface="+mn-lt"/>
              </a:rPr>
              <a:t>estructural</a:t>
            </a:r>
            <a:r>
              <a:rPr lang="en-US" dirty="0">
                <a:ea typeface="+mn-lt"/>
                <a:cs typeface="+mn-lt"/>
              </a:rPr>
              <a:t>), </a:t>
            </a:r>
            <a:r>
              <a:rPr lang="en-US" dirty="0" err="1">
                <a:ea typeface="+mn-lt"/>
                <a:cs typeface="+mn-lt"/>
              </a:rPr>
              <a:t>reemplazando</a:t>
            </a:r>
            <a:r>
              <a:rPr lang="en-US" dirty="0">
                <a:ea typeface="+mn-lt"/>
                <a:cs typeface="+mn-lt"/>
              </a:rPr>
              <a:t> </a:t>
            </a:r>
            <a:r>
              <a:rPr lang="en-US" dirty="0" err="1">
                <a:ea typeface="+mn-lt"/>
                <a:cs typeface="+mn-lt"/>
              </a:rPr>
              <a:t>el</a:t>
            </a:r>
            <a:r>
              <a:rPr lang="en-US" dirty="0">
                <a:ea typeface="+mn-lt"/>
                <a:cs typeface="+mn-lt"/>
              </a:rPr>
              <a:t> </a:t>
            </a:r>
            <a:r>
              <a:rPr lang="en-US" dirty="0" err="1">
                <a:ea typeface="+mn-lt"/>
                <a:cs typeface="+mn-lt"/>
              </a:rPr>
              <a:t>cuaderno</a:t>
            </a:r>
            <a:r>
              <a:rPr lang="en-US" dirty="0">
                <a:ea typeface="+mn-lt"/>
                <a:cs typeface="+mn-lt"/>
              </a:rPr>
              <a:t> </a:t>
            </a:r>
            <a:r>
              <a:rPr lang="en-US" dirty="0" err="1">
                <a:ea typeface="+mn-lt"/>
                <a:cs typeface="+mn-lt"/>
              </a:rPr>
              <a:t>físico</a:t>
            </a:r>
            <a:r>
              <a:rPr lang="en-US" dirty="0">
                <a:ea typeface="+mn-lt"/>
                <a:cs typeface="+mn-lt"/>
              </a:rPr>
              <a:t> actual.</a:t>
            </a:r>
            <a:endParaRPr lang="en-US" dirty="0">
              <a:ea typeface="Calibri" panose="020F0502020204030204"/>
              <a:cs typeface="Calibri" panose="020F0502020204030204"/>
            </a:endParaRPr>
          </a:p>
          <a:p>
            <a:pPr algn="just"/>
            <a:endParaRPr lang="en-US" dirty="0">
              <a:ea typeface="+mn-lt"/>
              <a:cs typeface="+mn-lt"/>
            </a:endParaRPr>
          </a:p>
          <a:p>
            <a:pPr algn="just"/>
            <a:r>
              <a:rPr lang="en-US" b="1" dirty="0">
                <a:ea typeface="+mn-lt"/>
                <a:cs typeface="+mn-lt"/>
              </a:rPr>
              <a:t>03.</a:t>
            </a:r>
            <a:r>
              <a:rPr lang="en-US" dirty="0">
                <a:ea typeface="+mn-lt"/>
                <a:cs typeface="+mn-lt"/>
              </a:rPr>
              <a:t> </a:t>
            </a:r>
            <a:r>
              <a:rPr lang="en-US" dirty="0" err="1">
                <a:ea typeface="+mn-lt"/>
                <a:cs typeface="+mn-lt"/>
              </a:rPr>
              <a:t>Implementar</a:t>
            </a:r>
            <a:r>
              <a:rPr lang="en-US" dirty="0">
                <a:ea typeface="+mn-lt"/>
                <a:cs typeface="+mn-lt"/>
              </a:rPr>
              <a:t> un </a:t>
            </a:r>
            <a:r>
              <a:rPr lang="en-US" dirty="0" err="1">
                <a:ea typeface="+mn-lt"/>
                <a:cs typeface="+mn-lt"/>
              </a:rPr>
              <a:t>módulo</a:t>
            </a:r>
            <a:r>
              <a:rPr lang="en-US" dirty="0">
                <a:ea typeface="+mn-lt"/>
                <a:cs typeface="+mn-lt"/>
              </a:rPr>
              <a:t> de </a:t>
            </a:r>
            <a:r>
              <a:rPr lang="en-US" dirty="0" err="1">
                <a:ea typeface="+mn-lt"/>
                <a:cs typeface="+mn-lt"/>
              </a:rPr>
              <a:t>seguimiento</a:t>
            </a:r>
            <a:r>
              <a:rPr lang="en-US" dirty="0">
                <a:ea typeface="+mn-lt"/>
                <a:cs typeface="+mn-lt"/>
              </a:rPr>
              <a:t> con 6 </a:t>
            </a:r>
            <a:r>
              <a:rPr lang="en-US" dirty="0" err="1">
                <a:ea typeface="+mn-lt"/>
                <a:cs typeface="+mn-lt"/>
              </a:rPr>
              <a:t>etapas</a:t>
            </a:r>
            <a:r>
              <a:rPr lang="en-US" dirty="0">
                <a:ea typeface="+mn-lt"/>
                <a:cs typeface="+mn-lt"/>
              </a:rPr>
              <a:t> </a:t>
            </a:r>
            <a:r>
              <a:rPr lang="en-US" dirty="0" err="1">
                <a:ea typeface="+mn-lt"/>
                <a:cs typeface="+mn-lt"/>
              </a:rPr>
              <a:t>definidas</a:t>
            </a:r>
            <a:r>
              <a:rPr lang="en-US" dirty="0">
                <a:ea typeface="+mn-lt"/>
                <a:cs typeface="+mn-lt"/>
              </a:rPr>
              <a:t> (</a:t>
            </a:r>
            <a:r>
              <a:rPr lang="en-US" dirty="0" err="1">
                <a:ea typeface="+mn-lt"/>
                <a:cs typeface="+mn-lt"/>
              </a:rPr>
              <a:t>Recepción</a:t>
            </a:r>
            <a:r>
              <a:rPr lang="en-US" dirty="0">
                <a:ea typeface="+mn-lt"/>
                <a:cs typeface="+mn-lt"/>
              </a:rPr>
              <a:t>, </a:t>
            </a:r>
            <a:r>
              <a:rPr lang="en-US" dirty="0" err="1">
                <a:ea typeface="+mn-lt"/>
                <a:cs typeface="+mn-lt"/>
              </a:rPr>
              <a:t>Diagnóstico</a:t>
            </a:r>
            <a:r>
              <a:rPr lang="en-US" dirty="0">
                <a:ea typeface="+mn-lt"/>
                <a:cs typeface="+mn-lt"/>
              </a:rPr>
              <a:t>, </a:t>
            </a:r>
            <a:r>
              <a:rPr lang="en-US" dirty="0" err="1">
                <a:ea typeface="+mn-lt"/>
                <a:cs typeface="+mn-lt"/>
              </a:rPr>
              <a:t>Reparación</a:t>
            </a:r>
            <a:r>
              <a:rPr lang="en-US" dirty="0">
                <a:ea typeface="+mn-lt"/>
                <a:cs typeface="+mn-lt"/>
              </a:rPr>
              <a:t>, </a:t>
            </a:r>
            <a:r>
              <a:rPr lang="en-US" dirty="0" err="1">
                <a:ea typeface="+mn-lt"/>
                <a:cs typeface="+mn-lt"/>
              </a:rPr>
              <a:t>Inspección</a:t>
            </a:r>
            <a:r>
              <a:rPr lang="en-US" dirty="0">
                <a:ea typeface="+mn-lt"/>
                <a:cs typeface="+mn-lt"/>
              </a:rPr>
              <a:t>, Listo, </a:t>
            </a:r>
            <a:r>
              <a:rPr lang="en-US" dirty="0" err="1">
                <a:ea typeface="+mn-lt"/>
                <a:cs typeface="+mn-lt"/>
              </a:rPr>
              <a:t>Entregado</a:t>
            </a:r>
            <a:r>
              <a:rPr lang="en-US" dirty="0">
                <a:ea typeface="+mn-lt"/>
                <a:cs typeface="+mn-lt"/>
              </a:rPr>
              <a:t>), con </a:t>
            </a:r>
            <a:r>
              <a:rPr lang="en-US" dirty="0" err="1">
                <a:ea typeface="+mn-lt"/>
                <a:cs typeface="+mn-lt"/>
              </a:rPr>
              <a:t>alertas</a:t>
            </a:r>
            <a:r>
              <a:rPr lang="en-US" dirty="0">
                <a:ea typeface="+mn-lt"/>
                <a:cs typeface="+mn-lt"/>
              </a:rPr>
              <a:t> </a:t>
            </a:r>
            <a:r>
              <a:rPr lang="en-US" dirty="0" err="1">
                <a:ea typeface="+mn-lt"/>
                <a:cs typeface="+mn-lt"/>
              </a:rPr>
              <a:t>internas</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demora</a:t>
            </a:r>
            <a:r>
              <a:rPr lang="en-US" dirty="0">
                <a:ea typeface="+mn-lt"/>
                <a:cs typeface="+mn-lt"/>
              </a:rPr>
              <a:t> y </a:t>
            </a:r>
            <a:r>
              <a:rPr lang="en-US" dirty="0" err="1">
                <a:ea typeface="+mn-lt"/>
                <a:cs typeface="+mn-lt"/>
              </a:rPr>
              <a:t>notificaciones</a:t>
            </a:r>
            <a:r>
              <a:rPr lang="en-US" dirty="0">
                <a:ea typeface="+mn-lt"/>
                <a:cs typeface="+mn-lt"/>
              </a:rPr>
              <a:t> </a:t>
            </a:r>
            <a:r>
              <a:rPr lang="en-US" dirty="0" err="1">
                <a:ea typeface="+mn-lt"/>
                <a:cs typeface="+mn-lt"/>
              </a:rPr>
              <a:t>automáticas</a:t>
            </a:r>
            <a:r>
              <a:rPr lang="en-US" dirty="0">
                <a:ea typeface="+mn-lt"/>
                <a:cs typeface="+mn-lt"/>
              </a:rPr>
              <a:t> al </a:t>
            </a:r>
            <a:r>
              <a:rPr lang="en-US" dirty="0" err="1">
                <a:ea typeface="+mn-lt"/>
                <a:cs typeface="+mn-lt"/>
              </a:rPr>
              <a:t>cliente</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correo</a:t>
            </a:r>
            <a:r>
              <a:rPr lang="en-US" dirty="0">
                <a:ea typeface="+mn-lt"/>
                <a:cs typeface="+mn-lt"/>
              </a:rPr>
              <a:t> </a:t>
            </a:r>
            <a:r>
              <a:rPr lang="en-US" dirty="0" err="1">
                <a:ea typeface="+mn-lt"/>
                <a:cs typeface="+mn-lt"/>
              </a:rPr>
              <a:t>electrónico</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cada</a:t>
            </a:r>
            <a:r>
              <a:rPr lang="en-US" dirty="0">
                <a:ea typeface="+mn-lt"/>
                <a:cs typeface="+mn-lt"/>
              </a:rPr>
              <a:t> </a:t>
            </a:r>
            <a:r>
              <a:rPr lang="en-US" dirty="0" err="1">
                <a:ea typeface="+mn-lt"/>
                <a:cs typeface="+mn-lt"/>
              </a:rPr>
              <a:t>cambio</a:t>
            </a:r>
            <a:r>
              <a:rPr lang="en-US" dirty="0">
                <a:ea typeface="+mn-lt"/>
                <a:cs typeface="+mn-lt"/>
              </a:rPr>
              <a:t> de </a:t>
            </a:r>
            <a:r>
              <a:rPr lang="en-US" dirty="0" err="1">
                <a:ea typeface="+mn-lt"/>
                <a:cs typeface="+mn-lt"/>
              </a:rPr>
              <a:t>estado</a:t>
            </a:r>
            <a:r>
              <a:rPr lang="en-US" dirty="0">
                <a:ea typeface="+mn-lt"/>
                <a:cs typeface="+mn-lt"/>
              </a:rPr>
              <a:t>.</a:t>
            </a:r>
            <a:endParaRPr lang="en-US" dirty="0">
              <a:ea typeface="Calibri" panose="020F0502020204030204"/>
              <a:cs typeface="Calibri" panose="020F0502020204030204"/>
            </a:endParaRPr>
          </a:p>
          <a:p>
            <a:pPr algn="just"/>
            <a:endParaRPr lang="en-US" dirty="0">
              <a:ea typeface="+mn-lt"/>
              <a:cs typeface="+mn-lt"/>
            </a:endParaRPr>
          </a:p>
          <a:p>
            <a:pPr algn="just"/>
            <a:r>
              <a:rPr lang="en-US" b="1" dirty="0">
                <a:ea typeface="+mn-lt"/>
                <a:cs typeface="+mn-lt"/>
              </a:rPr>
              <a:t>04.</a:t>
            </a:r>
            <a:r>
              <a:rPr lang="en-US" dirty="0">
                <a:ea typeface="+mn-lt"/>
                <a:cs typeface="+mn-lt"/>
              </a:rPr>
              <a:t> </a:t>
            </a:r>
            <a:r>
              <a:rPr lang="en-US" dirty="0" err="1">
                <a:ea typeface="+mn-lt"/>
                <a:cs typeface="+mn-lt"/>
              </a:rPr>
              <a:t>Desarrollar</a:t>
            </a:r>
            <a:r>
              <a:rPr lang="en-US" dirty="0">
                <a:ea typeface="+mn-lt"/>
                <a:cs typeface="+mn-lt"/>
              </a:rPr>
              <a:t> un </a:t>
            </a:r>
            <a:r>
              <a:rPr lang="en-US" dirty="0" err="1">
                <a:ea typeface="+mn-lt"/>
                <a:cs typeface="+mn-lt"/>
              </a:rPr>
              <a:t>módulo</a:t>
            </a:r>
            <a:r>
              <a:rPr lang="en-US" dirty="0">
                <a:ea typeface="+mn-lt"/>
                <a:cs typeface="+mn-lt"/>
              </a:rPr>
              <a:t> de </a:t>
            </a:r>
            <a:r>
              <a:rPr lang="en-US" dirty="0" err="1">
                <a:ea typeface="+mn-lt"/>
                <a:cs typeface="+mn-lt"/>
              </a:rPr>
              <a:t>inventario</a:t>
            </a:r>
            <a:r>
              <a:rPr lang="en-US" dirty="0">
                <a:ea typeface="+mn-lt"/>
                <a:cs typeface="+mn-lt"/>
              </a:rPr>
              <a:t> de </a:t>
            </a:r>
            <a:r>
              <a:rPr lang="en-US" dirty="0" err="1">
                <a:ea typeface="+mn-lt"/>
                <a:cs typeface="+mn-lt"/>
              </a:rPr>
              <a:t>insumos</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registre</a:t>
            </a:r>
            <a:r>
              <a:rPr lang="en-US" dirty="0">
                <a:ea typeface="+mn-lt"/>
                <a:cs typeface="+mn-lt"/>
              </a:rPr>
              <a:t> </a:t>
            </a:r>
            <a:r>
              <a:rPr lang="en-US" dirty="0" err="1">
                <a:ea typeface="+mn-lt"/>
                <a:cs typeface="+mn-lt"/>
              </a:rPr>
              <a:t>materiales</a:t>
            </a:r>
            <a:r>
              <a:rPr lang="en-US" dirty="0">
                <a:ea typeface="+mn-lt"/>
                <a:cs typeface="+mn-lt"/>
              </a:rPr>
              <a:t>, </a:t>
            </a:r>
            <a:r>
              <a:rPr lang="en-US" dirty="0" err="1">
                <a:ea typeface="+mn-lt"/>
                <a:cs typeface="+mn-lt"/>
              </a:rPr>
              <a:t>descuente</a:t>
            </a:r>
            <a:r>
              <a:rPr lang="en-US" dirty="0">
                <a:ea typeface="+mn-lt"/>
                <a:cs typeface="+mn-lt"/>
              </a:rPr>
              <a:t> </a:t>
            </a:r>
            <a:r>
              <a:rPr lang="en-US" dirty="0" err="1">
                <a:ea typeface="+mn-lt"/>
                <a:cs typeface="+mn-lt"/>
              </a:rPr>
              <a:t>automáticamente</a:t>
            </a:r>
            <a:r>
              <a:rPr lang="en-US" dirty="0">
                <a:ea typeface="+mn-lt"/>
                <a:cs typeface="+mn-lt"/>
              </a:rPr>
              <a:t> al registrar </a:t>
            </a:r>
            <a:r>
              <a:rPr lang="en-US" dirty="0" err="1">
                <a:ea typeface="+mn-lt"/>
                <a:cs typeface="+mn-lt"/>
              </a:rPr>
              <a:t>cada</a:t>
            </a:r>
            <a:r>
              <a:rPr lang="en-US" dirty="0">
                <a:ea typeface="+mn-lt"/>
                <a:cs typeface="+mn-lt"/>
              </a:rPr>
              <a:t> </a:t>
            </a:r>
            <a:r>
              <a:rPr lang="en-US" dirty="0" err="1">
                <a:ea typeface="+mn-lt"/>
                <a:cs typeface="+mn-lt"/>
              </a:rPr>
              <a:t>reparación</a:t>
            </a:r>
            <a:r>
              <a:rPr lang="en-US" dirty="0">
                <a:ea typeface="+mn-lt"/>
                <a:cs typeface="+mn-lt"/>
              </a:rPr>
              <a:t> y </a:t>
            </a:r>
            <a:r>
              <a:rPr lang="en-US" dirty="0" err="1">
                <a:ea typeface="+mn-lt"/>
                <a:cs typeface="+mn-lt"/>
              </a:rPr>
              <a:t>genere</a:t>
            </a:r>
            <a:r>
              <a:rPr lang="en-US" dirty="0">
                <a:ea typeface="+mn-lt"/>
                <a:cs typeface="+mn-lt"/>
              </a:rPr>
              <a:t> </a:t>
            </a:r>
            <a:r>
              <a:rPr lang="en-US" dirty="0" err="1">
                <a:ea typeface="+mn-lt"/>
                <a:cs typeface="+mn-lt"/>
              </a:rPr>
              <a:t>alertas</a:t>
            </a:r>
            <a:r>
              <a:rPr lang="en-US" dirty="0">
                <a:ea typeface="+mn-lt"/>
                <a:cs typeface="+mn-lt"/>
              </a:rPr>
              <a:t> de stock bajo para </a:t>
            </a:r>
            <a:r>
              <a:rPr lang="en-US" dirty="0" err="1">
                <a:ea typeface="+mn-lt"/>
                <a:cs typeface="+mn-lt"/>
              </a:rPr>
              <a:t>evitar</a:t>
            </a:r>
            <a:r>
              <a:rPr lang="en-US" dirty="0">
                <a:ea typeface="+mn-lt"/>
                <a:cs typeface="+mn-lt"/>
              </a:rPr>
              <a:t> </a:t>
            </a:r>
            <a:r>
              <a:rPr lang="en-US" dirty="0" err="1">
                <a:ea typeface="+mn-lt"/>
                <a:cs typeface="+mn-lt"/>
              </a:rPr>
              <a:t>compras</a:t>
            </a:r>
            <a:r>
              <a:rPr lang="en-US" dirty="0">
                <a:ea typeface="+mn-lt"/>
                <a:cs typeface="+mn-lt"/>
              </a:rPr>
              <a:t> de </a:t>
            </a:r>
            <a:r>
              <a:rPr lang="en-US" dirty="0" err="1">
                <a:ea typeface="+mn-lt"/>
                <a:cs typeface="+mn-lt"/>
              </a:rPr>
              <a:t>emergencia</a:t>
            </a:r>
            <a:r>
              <a:rPr lang="en-US" dirty="0">
                <a:ea typeface="+mn-lt"/>
                <a:cs typeface="+mn-lt"/>
              </a:rPr>
              <a:t>.</a:t>
            </a:r>
            <a:endParaRPr lang="en-US" dirty="0">
              <a:ea typeface="Calibri" panose="020F0502020204030204"/>
              <a:cs typeface="Calibri" panose="020F0502020204030204"/>
            </a:endParaRPr>
          </a:p>
          <a:p>
            <a:pPr algn="just"/>
            <a:endParaRPr lang="en-US" dirty="0">
              <a:ea typeface="+mn-lt"/>
              <a:cs typeface="+mn-lt"/>
            </a:endParaRPr>
          </a:p>
          <a:p>
            <a:pPr algn="just"/>
            <a:r>
              <a:rPr lang="en-US" b="1" dirty="0">
                <a:ea typeface="+mn-lt"/>
                <a:cs typeface="+mn-lt"/>
              </a:rPr>
              <a:t>05.</a:t>
            </a:r>
            <a:r>
              <a:rPr lang="en-US" dirty="0">
                <a:ea typeface="+mn-lt"/>
                <a:cs typeface="+mn-lt"/>
              </a:rPr>
              <a:t> </a:t>
            </a:r>
            <a:r>
              <a:rPr lang="en-US" dirty="0" err="1">
                <a:ea typeface="+mn-lt"/>
                <a:cs typeface="+mn-lt"/>
              </a:rPr>
              <a:t>Implementar</a:t>
            </a:r>
            <a:r>
              <a:rPr lang="en-US" dirty="0">
                <a:ea typeface="+mn-lt"/>
                <a:cs typeface="+mn-lt"/>
              </a:rPr>
              <a:t> un </a:t>
            </a:r>
            <a:r>
              <a:rPr lang="en-US" dirty="0" err="1">
                <a:ea typeface="+mn-lt"/>
                <a:cs typeface="+mn-lt"/>
              </a:rPr>
              <a:t>módulo</a:t>
            </a:r>
            <a:r>
              <a:rPr lang="en-US" dirty="0">
                <a:ea typeface="+mn-lt"/>
                <a:cs typeface="+mn-lt"/>
              </a:rPr>
              <a:t> de </a:t>
            </a:r>
            <a:r>
              <a:rPr lang="en-US" dirty="0" err="1">
                <a:ea typeface="+mn-lt"/>
                <a:cs typeface="+mn-lt"/>
              </a:rPr>
              <a:t>reportes</a:t>
            </a:r>
            <a:r>
              <a:rPr lang="en-US" dirty="0">
                <a:ea typeface="+mn-lt"/>
                <a:cs typeface="+mn-lt"/>
              </a:rPr>
              <a:t> y </a:t>
            </a:r>
            <a:r>
              <a:rPr lang="en-US" dirty="0" err="1">
                <a:ea typeface="+mn-lt"/>
                <a:cs typeface="+mn-lt"/>
              </a:rPr>
              <a:t>analítica</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genere</a:t>
            </a:r>
            <a:r>
              <a:rPr lang="en-US" dirty="0">
                <a:ea typeface="+mn-lt"/>
                <a:cs typeface="+mn-lt"/>
              </a:rPr>
              <a:t> </a:t>
            </a:r>
            <a:r>
              <a:rPr lang="en-US" dirty="0" err="1">
                <a:ea typeface="+mn-lt"/>
                <a:cs typeface="+mn-lt"/>
              </a:rPr>
              <a:t>indicadores</a:t>
            </a:r>
            <a:r>
              <a:rPr lang="en-US" dirty="0">
                <a:ea typeface="+mn-lt"/>
                <a:cs typeface="+mn-lt"/>
              </a:rPr>
              <a:t> </a:t>
            </a:r>
            <a:r>
              <a:rPr lang="en-US" dirty="0" err="1">
                <a:ea typeface="+mn-lt"/>
                <a:cs typeface="+mn-lt"/>
              </a:rPr>
              <a:t>operativos</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tiempo</a:t>
            </a:r>
            <a:r>
              <a:rPr lang="en-US" dirty="0">
                <a:ea typeface="+mn-lt"/>
                <a:cs typeface="+mn-lt"/>
              </a:rPr>
              <a:t> real y </a:t>
            </a:r>
            <a:r>
              <a:rPr lang="en-US" dirty="0" err="1">
                <a:ea typeface="+mn-lt"/>
                <a:cs typeface="+mn-lt"/>
              </a:rPr>
              <a:t>permita</a:t>
            </a:r>
            <a:r>
              <a:rPr lang="en-US" dirty="0">
                <a:ea typeface="+mn-lt"/>
                <a:cs typeface="+mn-lt"/>
              </a:rPr>
              <a:t> </a:t>
            </a:r>
            <a:r>
              <a:rPr lang="en-US" dirty="0" err="1">
                <a:ea typeface="+mn-lt"/>
                <a:cs typeface="+mn-lt"/>
              </a:rPr>
              <a:t>exportar</a:t>
            </a:r>
            <a:r>
              <a:rPr lang="en-US" dirty="0">
                <a:ea typeface="+mn-lt"/>
                <a:cs typeface="+mn-lt"/>
              </a:rPr>
              <a:t> </a:t>
            </a:r>
            <a:r>
              <a:rPr lang="en-US" dirty="0" err="1">
                <a:ea typeface="+mn-lt"/>
                <a:cs typeface="+mn-lt"/>
              </a:rPr>
              <a:t>informes</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formato</a:t>
            </a:r>
            <a:r>
              <a:rPr lang="en-US" dirty="0">
                <a:ea typeface="+mn-lt"/>
                <a:cs typeface="+mn-lt"/>
              </a:rPr>
              <a:t> PDF y Excel para la </a:t>
            </a:r>
            <a:r>
              <a:rPr lang="en-US" dirty="0" err="1">
                <a:ea typeface="+mn-lt"/>
                <a:cs typeface="+mn-lt"/>
              </a:rPr>
              <a:t>toma</a:t>
            </a:r>
            <a:r>
              <a:rPr lang="en-US" dirty="0">
                <a:ea typeface="+mn-lt"/>
                <a:cs typeface="+mn-lt"/>
              </a:rPr>
              <a:t> de </a:t>
            </a:r>
            <a:r>
              <a:rPr lang="en-US" dirty="0" err="1">
                <a:ea typeface="+mn-lt"/>
                <a:cs typeface="+mn-lt"/>
              </a:rPr>
              <a:t>decisiones</a:t>
            </a:r>
            <a:r>
              <a:rPr lang="en-US" dirty="0">
                <a:ea typeface="+mn-lt"/>
                <a:cs typeface="+mn-lt"/>
              </a:rPr>
              <a:t> del </a:t>
            </a:r>
            <a:r>
              <a:rPr lang="en-US" dirty="0" err="1">
                <a:ea typeface="+mn-lt"/>
                <a:cs typeface="+mn-lt"/>
              </a:rPr>
              <a:t>administrador</a:t>
            </a:r>
            <a:r>
              <a:rPr lang="en-US" dirty="0">
                <a:ea typeface="+mn-lt"/>
                <a:cs typeface="+mn-lt"/>
              </a:rPr>
              <a:t>.</a:t>
            </a:r>
            <a:endParaRPr lang="en-US" dirty="0">
              <a:ea typeface="Calibri" panose="020F0502020204030204"/>
              <a:cs typeface="Calibri" panose="020F0502020204030204"/>
            </a:endParaRPr>
          </a:p>
          <a:p>
            <a:pPr algn="just"/>
            <a:endParaRPr lang="en-US" dirty="0">
              <a:ea typeface="Calibri"/>
              <a:cs typeface="Segoe UI"/>
            </a:endParaRPr>
          </a:p>
        </p:txBody>
      </p:sp>
    </p:spTree>
    <p:extLst>
      <p:ext uri="{BB962C8B-B14F-4D97-AF65-F5344CB8AC3E}">
        <p14:creationId xmlns:p14="http://schemas.microsoft.com/office/powerpoint/2010/main" val="494934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E004E02-84EA-BD43-C7E8-5194FE2AE63D}"/>
              </a:ext>
            </a:extLst>
          </p:cNvPr>
          <p:cNvSpPr txBox="1"/>
          <p:nvPr/>
        </p:nvSpPr>
        <p:spPr>
          <a:xfrm>
            <a:off x="3311131" y="400938"/>
            <a:ext cx="6273318"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4400" b="1">
                <a:solidFill>
                  <a:srgbClr val="38AA00"/>
                </a:solidFill>
                <a:latin typeface="Work Sans Medium"/>
                <a:cs typeface="Arial"/>
              </a:rPr>
              <a:t>Alcance del Proyecto</a:t>
            </a:r>
            <a:endParaRPr lang="es-CO" sz="4400" b="1">
              <a:solidFill>
                <a:srgbClr val="38AA00"/>
              </a:solidFill>
              <a:latin typeface="Work Sans Medium"/>
              <a:ea typeface="Calibri"/>
              <a:cs typeface="Calibri"/>
            </a:endParaRPr>
          </a:p>
          <a:p>
            <a:pPr algn="ctr"/>
            <a:endParaRPr lang="es-ES"/>
          </a:p>
        </p:txBody>
      </p:sp>
      <p:sp>
        <p:nvSpPr>
          <p:cNvPr id="6" name="CuadroTexto 5">
            <a:extLst>
              <a:ext uri="{FF2B5EF4-FFF2-40B4-BE49-F238E27FC236}">
                <a16:creationId xmlns:a16="http://schemas.microsoft.com/office/drawing/2014/main" id="{ACF3B3EE-2278-85B5-2440-CBA3C6B7ABDD}"/>
              </a:ext>
            </a:extLst>
          </p:cNvPr>
          <p:cNvSpPr txBox="1"/>
          <p:nvPr/>
        </p:nvSpPr>
        <p:spPr>
          <a:xfrm>
            <a:off x="245286" y="1525508"/>
            <a:ext cx="11950896"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endParaRPr lang="en-US" dirty="0">
              <a:latin typeface="Calibri"/>
              <a:ea typeface="Segoe UI"/>
              <a:cs typeface="Segoe UI"/>
            </a:endParaRPr>
          </a:p>
          <a:p>
            <a:pPr algn="just"/>
            <a:r>
              <a:rPr lang="en-US" dirty="0">
                <a:latin typeface="Calibri"/>
                <a:ea typeface="Segoe UI"/>
                <a:cs typeface="Segoe UI"/>
              </a:rPr>
              <a:t>​​</a:t>
            </a:r>
            <a:r>
              <a:rPr lang="en-US" dirty="0">
                <a:ea typeface="+mn-lt"/>
                <a:cs typeface="+mn-lt"/>
              </a:rPr>
              <a:t>El </a:t>
            </a:r>
            <a:r>
              <a:rPr lang="en-US" dirty="0" err="1">
                <a:ea typeface="+mn-lt"/>
                <a:cs typeface="+mn-lt"/>
              </a:rPr>
              <a:t>proyecto</a:t>
            </a:r>
            <a:r>
              <a:rPr lang="en-US" dirty="0">
                <a:ea typeface="+mn-lt"/>
                <a:cs typeface="+mn-lt"/>
              </a:rPr>
              <a:t> </a:t>
            </a:r>
            <a:r>
              <a:rPr lang="en-US" dirty="0" err="1">
                <a:ea typeface="+mn-lt"/>
                <a:cs typeface="+mn-lt"/>
              </a:rPr>
              <a:t>consiste</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el</a:t>
            </a:r>
            <a:r>
              <a:rPr lang="en-US" dirty="0">
                <a:ea typeface="+mn-lt"/>
                <a:cs typeface="+mn-lt"/>
              </a:rPr>
              <a:t> </a:t>
            </a:r>
            <a:r>
              <a:rPr lang="en-US" b="1" dirty="0" err="1">
                <a:ea typeface="+mn-lt"/>
                <a:cs typeface="+mn-lt"/>
              </a:rPr>
              <a:t>desarrollo</a:t>
            </a:r>
            <a:r>
              <a:rPr lang="en-US" b="1" dirty="0">
                <a:ea typeface="+mn-lt"/>
                <a:cs typeface="+mn-lt"/>
              </a:rPr>
              <a:t> de un </a:t>
            </a:r>
            <a:r>
              <a:rPr lang="en-US" b="1" dirty="0" err="1">
                <a:ea typeface="+mn-lt"/>
                <a:cs typeface="+mn-lt"/>
              </a:rPr>
              <a:t>sistema</a:t>
            </a:r>
            <a:r>
              <a:rPr lang="en-US" b="1" dirty="0">
                <a:ea typeface="+mn-lt"/>
                <a:cs typeface="+mn-lt"/>
              </a:rPr>
              <a:t> web de </a:t>
            </a:r>
            <a:r>
              <a:rPr lang="en-US" b="1" dirty="0" err="1">
                <a:ea typeface="+mn-lt"/>
                <a:cs typeface="+mn-lt"/>
              </a:rPr>
              <a:t>gestión</a:t>
            </a:r>
            <a:r>
              <a:rPr lang="en-US" b="1" dirty="0">
                <a:ea typeface="+mn-lt"/>
                <a:cs typeface="+mn-lt"/>
              </a:rPr>
              <a:t> integral</a:t>
            </a:r>
            <a:r>
              <a:rPr lang="en-US" dirty="0">
                <a:ea typeface="+mn-lt"/>
                <a:cs typeface="+mn-lt"/>
              </a:rPr>
              <a:t> para </a:t>
            </a:r>
            <a:r>
              <a:rPr lang="en-US" dirty="0" err="1">
                <a:ea typeface="+mn-lt"/>
                <a:cs typeface="+mn-lt"/>
              </a:rPr>
              <a:t>el</a:t>
            </a:r>
            <a:r>
              <a:rPr lang="en-US" dirty="0">
                <a:ea typeface="+mn-lt"/>
                <a:cs typeface="+mn-lt"/>
              </a:rPr>
              <a:t> taller </a:t>
            </a:r>
            <a:r>
              <a:rPr lang="en-US" dirty="0" err="1">
                <a:ea typeface="+mn-lt"/>
                <a:cs typeface="+mn-lt"/>
              </a:rPr>
              <a:t>Compra</a:t>
            </a:r>
            <a:r>
              <a:rPr lang="en-US" dirty="0">
                <a:ea typeface="+mn-lt"/>
                <a:cs typeface="+mn-lt"/>
              </a:rPr>
              <a:t> y Venta La </a:t>
            </a:r>
            <a:r>
              <a:rPr lang="en-US" dirty="0" err="1">
                <a:ea typeface="+mn-lt"/>
                <a:cs typeface="+mn-lt"/>
              </a:rPr>
              <a:t>Caqueteña</a:t>
            </a:r>
            <a:r>
              <a:rPr lang="en-US" dirty="0">
                <a:ea typeface="+mn-lt"/>
                <a:cs typeface="+mn-lt"/>
              </a:rPr>
              <a:t>, </a:t>
            </a:r>
            <a:r>
              <a:rPr lang="en-US" dirty="0" err="1">
                <a:ea typeface="+mn-lt"/>
                <a:cs typeface="+mn-lt"/>
              </a:rPr>
              <a:t>que</a:t>
            </a:r>
            <a:r>
              <a:rPr lang="en-US" dirty="0">
                <a:ea typeface="+mn-lt"/>
                <a:cs typeface="+mn-lt"/>
              </a:rPr>
              <a:t> </a:t>
            </a:r>
            <a:r>
              <a:rPr lang="en-US" dirty="0" err="1">
                <a:ea typeface="+mn-lt"/>
                <a:cs typeface="+mn-lt"/>
              </a:rPr>
              <a:t>centralice</a:t>
            </a:r>
            <a:r>
              <a:rPr lang="en-US" dirty="0">
                <a:ea typeface="+mn-lt"/>
                <a:cs typeface="+mn-lt"/>
              </a:rPr>
              <a:t> </a:t>
            </a:r>
            <a:r>
              <a:rPr lang="en-US" dirty="0" err="1">
                <a:ea typeface="+mn-lt"/>
                <a:cs typeface="+mn-lt"/>
              </a:rPr>
              <a:t>en</a:t>
            </a:r>
            <a:r>
              <a:rPr lang="en-US" dirty="0">
                <a:ea typeface="+mn-lt"/>
                <a:cs typeface="+mn-lt"/>
              </a:rPr>
              <a:t> </a:t>
            </a:r>
            <a:r>
              <a:rPr lang="en-US" dirty="0" err="1">
                <a:ea typeface="+mn-lt"/>
                <a:cs typeface="+mn-lt"/>
              </a:rPr>
              <a:t>una</a:t>
            </a:r>
            <a:r>
              <a:rPr lang="en-US" dirty="0">
                <a:ea typeface="+mn-lt"/>
                <a:cs typeface="+mn-lt"/>
              </a:rPr>
              <a:t> sola </a:t>
            </a:r>
            <a:r>
              <a:rPr lang="en-US" dirty="0" err="1">
                <a:ea typeface="+mn-lt"/>
                <a:cs typeface="+mn-lt"/>
              </a:rPr>
              <a:t>plataforma</a:t>
            </a:r>
            <a:r>
              <a:rPr lang="en-US" dirty="0">
                <a:ea typeface="+mn-lt"/>
                <a:cs typeface="+mn-lt"/>
              </a:rPr>
              <a:t> </a:t>
            </a:r>
            <a:r>
              <a:rPr lang="en-US" dirty="0" err="1">
                <a:ea typeface="+mn-lt"/>
                <a:cs typeface="+mn-lt"/>
              </a:rPr>
              <a:t>los</a:t>
            </a:r>
            <a:r>
              <a:rPr lang="en-US" dirty="0">
                <a:ea typeface="+mn-lt"/>
                <a:cs typeface="+mn-lt"/>
              </a:rPr>
              <a:t> </a:t>
            </a:r>
            <a:r>
              <a:rPr lang="en-US" dirty="0" err="1">
                <a:ea typeface="+mn-lt"/>
                <a:cs typeface="+mn-lt"/>
              </a:rPr>
              <a:t>tres</a:t>
            </a:r>
            <a:r>
              <a:rPr lang="en-US" dirty="0">
                <a:ea typeface="+mn-lt"/>
                <a:cs typeface="+mn-lt"/>
              </a:rPr>
              <a:t> </a:t>
            </a:r>
            <a:r>
              <a:rPr lang="en-US" dirty="0" err="1">
                <a:ea typeface="+mn-lt"/>
                <a:cs typeface="+mn-lt"/>
              </a:rPr>
              <a:t>procesos</a:t>
            </a:r>
            <a:r>
              <a:rPr lang="en-US" dirty="0">
                <a:ea typeface="+mn-lt"/>
                <a:cs typeface="+mn-lt"/>
              </a:rPr>
              <a:t> </a:t>
            </a:r>
            <a:r>
              <a:rPr lang="en-US" dirty="0" err="1">
                <a:ea typeface="+mn-lt"/>
                <a:cs typeface="+mn-lt"/>
              </a:rPr>
              <a:t>críticos</a:t>
            </a:r>
            <a:r>
              <a:rPr lang="en-US" dirty="0">
                <a:ea typeface="+mn-lt"/>
                <a:cs typeface="+mn-lt"/>
              </a:rPr>
              <a:t> del </a:t>
            </a:r>
            <a:r>
              <a:rPr lang="en-US" dirty="0" err="1">
                <a:ea typeface="+mn-lt"/>
                <a:cs typeface="+mn-lt"/>
              </a:rPr>
              <a:t>negocio</a:t>
            </a:r>
            <a:r>
              <a:rPr lang="en-US" dirty="0">
                <a:ea typeface="+mn-lt"/>
                <a:cs typeface="+mn-lt"/>
              </a:rPr>
              <a:t>: la </a:t>
            </a:r>
            <a:r>
              <a:rPr lang="en-US" dirty="0" err="1">
                <a:ea typeface="+mn-lt"/>
                <a:cs typeface="+mn-lt"/>
              </a:rPr>
              <a:t>gestión</a:t>
            </a:r>
            <a:r>
              <a:rPr lang="en-US" dirty="0">
                <a:ea typeface="+mn-lt"/>
                <a:cs typeface="+mn-lt"/>
              </a:rPr>
              <a:t> de </a:t>
            </a:r>
            <a:r>
              <a:rPr lang="en-US" dirty="0" err="1">
                <a:ea typeface="+mn-lt"/>
                <a:cs typeface="+mn-lt"/>
              </a:rPr>
              <a:t>clientes</a:t>
            </a:r>
            <a:r>
              <a:rPr lang="en-US" dirty="0">
                <a:ea typeface="+mn-lt"/>
                <a:cs typeface="+mn-lt"/>
              </a:rPr>
              <a:t> y </a:t>
            </a:r>
            <a:r>
              <a:rPr lang="en-US" dirty="0" err="1">
                <a:ea typeface="+mn-lt"/>
                <a:cs typeface="+mn-lt"/>
              </a:rPr>
              <a:t>órdenes</a:t>
            </a:r>
            <a:r>
              <a:rPr lang="en-US" dirty="0">
                <a:ea typeface="+mn-lt"/>
                <a:cs typeface="+mn-lt"/>
              </a:rPr>
              <a:t> de </a:t>
            </a:r>
            <a:r>
              <a:rPr lang="en-US" dirty="0" err="1">
                <a:ea typeface="+mn-lt"/>
                <a:cs typeface="+mn-lt"/>
              </a:rPr>
              <a:t>reparación</a:t>
            </a:r>
            <a:r>
              <a:rPr lang="en-US" dirty="0">
                <a:ea typeface="+mn-lt"/>
                <a:cs typeface="+mn-lt"/>
              </a:rPr>
              <a:t>, </a:t>
            </a:r>
            <a:r>
              <a:rPr lang="en-US" dirty="0" err="1">
                <a:ea typeface="+mn-lt"/>
                <a:cs typeface="+mn-lt"/>
              </a:rPr>
              <a:t>el</a:t>
            </a:r>
            <a:r>
              <a:rPr lang="en-US" dirty="0">
                <a:ea typeface="+mn-lt"/>
                <a:cs typeface="+mn-lt"/>
              </a:rPr>
              <a:t> control de </a:t>
            </a:r>
            <a:r>
              <a:rPr lang="en-US" dirty="0" err="1">
                <a:ea typeface="+mn-lt"/>
                <a:cs typeface="+mn-lt"/>
              </a:rPr>
              <a:t>inventario</a:t>
            </a:r>
            <a:r>
              <a:rPr lang="en-US" dirty="0">
                <a:ea typeface="+mn-lt"/>
                <a:cs typeface="+mn-lt"/>
              </a:rPr>
              <a:t> de </a:t>
            </a:r>
            <a:r>
              <a:rPr lang="en-US" dirty="0" err="1">
                <a:ea typeface="+mn-lt"/>
                <a:cs typeface="+mn-lt"/>
              </a:rPr>
              <a:t>insumos</a:t>
            </a:r>
            <a:r>
              <a:rPr lang="en-US" dirty="0">
                <a:ea typeface="+mn-lt"/>
                <a:cs typeface="+mn-lt"/>
              </a:rPr>
              <a:t> y </a:t>
            </a:r>
            <a:r>
              <a:rPr lang="en-US" dirty="0" err="1">
                <a:ea typeface="+mn-lt"/>
                <a:cs typeface="+mn-lt"/>
              </a:rPr>
              <a:t>el</a:t>
            </a:r>
            <a:r>
              <a:rPr lang="en-US" dirty="0">
                <a:ea typeface="+mn-lt"/>
                <a:cs typeface="+mn-lt"/>
              </a:rPr>
              <a:t> </a:t>
            </a:r>
            <a:r>
              <a:rPr lang="en-US" dirty="0" err="1">
                <a:ea typeface="+mn-lt"/>
                <a:cs typeface="+mn-lt"/>
              </a:rPr>
              <a:t>seguimiento</a:t>
            </a:r>
            <a:r>
              <a:rPr lang="en-US" dirty="0">
                <a:ea typeface="+mn-lt"/>
                <a:cs typeface="+mn-lt"/>
              </a:rPr>
              <a:t> del </a:t>
            </a:r>
            <a:r>
              <a:rPr lang="en-US" dirty="0" err="1">
                <a:ea typeface="+mn-lt"/>
                <a:cs typeface="+mn-lt"/>
              </a:rPr>
              <a:t>proceso</a:t>
            </a:r>
            <a:r>
              <a:rPr lang="en-US" dirty="0">
                <a:ea typeface="+mn-lt"/>
                <a:cs typeface="+mn-lt"/>
              </a:rPr>
              <a:t> </a:t>
            </a:r>
            <a:r>
              <a:rPr lang="en-US" dirty="0" err="1">
                <a:ea typeface="+mn-lt"/>
                <a:cs typeface="+mn-lt"/>
              </a:rPr>
              <a:t>productivo</a:t>
            </a:r>
            <a:r>
              <a:rPr lang="en-US" dirty="0">
                <a:ea typeface="+mn-lt"/>
                <a:cs typeface="+mn-lt"/>
              </a:rPr>
              <a:t>.</a:t>
            </a:r>
          </a:p>
          <a:p>
            <a:pPr marL="285750" indent="-285750" algn="just">
              <a:buFont typeface="Arial"/>
              <a:buChar char="•"/>
            </a:pPr>
            <a:endParaRPr lang="en-US" dirty="0">
              <a:ea typeface="Calibri"/>
              <a:cs typeface="Calibri"/>
            </a:endParaRPr>
          </a:p>
          <a:p>
            <a:pPr marL="285750" indent="-285750" algn="just">
              <a:buFont typeface="Arial"/>
              <a:buChar char="•"/>
            </a:pPr>
            <a:r>
              <a:rPr lang="en-US" dirty="0" err="1">
                <a:ea typeface="+mn-lt"/>
                <a:cs typeface="+mn-lt"/>
              </a:rPr>
              <a:t>Módulo</a:t>
            </a:r>
            <a:r>
              <a:rPr lang="en-US" dirty="0">
                <a:ea typeface="+mn-lt"/>
                <a:cs typeface="+mn-lt"/>
              </a:rPr>
              <a:t> 1. </a:t>
            </a:r>
            <a:r>
              <a:rPr lang="en-US" dirty="0" err="1">
                <a:ea typeface="+mn-lt"/>
                <a:cs typeface="+mn-lt"/>
              </a:rPr>
              <a:t>Gestión</a:t>
            </a:r>
            <a:r>
              <a:rPr lang="en-US" dirty="0">
                <a:ea typeface="+mn-lt"/>
                <a:cs typeface="+mn-lt"/>
              </a:rPr>
              <a:t> de </a:t>
            </a:r>
            <a:r>
              <a:rPr lang="en-US" dirty="0" err="1">
                <a:ea typeface="+mn-lt"/>
                <a:cs typeface="+mn-lt"/>
              </a:rPr>
              <a:t>usuarios</a:t>
            </a:r>
            <a:r>
              <a:rPr lang="en-US" dirty="0">
                <a:ea typeface="+mn-lt"/>
                <a:cs typeface="+mn-lt"/>
              </a:rPr>
              <a:t> y roles Cuatro </a:t>
            </a:r>
            <a:r>
              <a:rPr lang="en-US" dirty="0" err="1">
                <a:ea typeface="+mn-lt"/>
                <a:cs typeface="+mn-lt"/>
              </a:rPr>
              <a:t>perfiles</a:t>
            </a:r>
            <a:r>
              <a:rPr lang="en-US" dirty="0">
                <a:ea typeface="+mn-lt"/>
                <a:cs typeface="+mn-lt"/>
              </a:rPr>
              <a:t> de </a:t>
            </a:r>
            <a:r>
              <a:rPr lang="en-US" dirty="0" err="1">
                <a:ea typeface="+mn-lt"/>
                <a:cs typeface="+mn-lt"/>
              </a:rPr>
              <a:t>acceso</a:t>
            </a:r>
            <a:r>
              <a:rPr lang="en-US" dirty="0">
                <a:ea typeface="+mn-lt"/>
                <a:cs typeface="+mn-lt"/>
              </a:rPr>
              <a:t> con </a:t>
            </a:r>
            <a:r>
              <a:rPr lang="en-US" dirty="0" err="1">
                <a:ea typeface="+mn-lt"/>
                <a:cs typeface="+mn-lt"/>
              </a:rPr>
              <a:t>inicio</a:t>
            </a:r>
            <a:r>
              <a:rPr lang="en-US" dirty="0">
                <a:ea typeface="+mn-lt"/>
                <a:cs typeface="+mn-lt"/>
              </a:rPr>
              <a:t> de </a:t>
            </a:r>
            <a:r>
              <a:rPr lang="en-US" dirty="0" err="1">
                <a:ea typeface="+mn-lt"/>
                <a:cs typeface="+mn-lt"/>
              </a:rPr>
              <a:t>sesión</a:t>
            </a:r>
            <a:r>
              <a:rPr lang="en-US" dirty="0">
                <a:ea typeface="+mn-lt"/>
                <a:cs typeface="+mn-lt"/>
              </a:rPr>
              <a:t> </a:t>
            </a:r>
            <a:r>
              <a:rPr lang="en-US" dirty="0" err="1">
                <a:ea typeface="+mn-lt"/>
                <a:cs typeface="+mn-lt"/>
              </a:rPr>
              <a:t>seguro</a:t>
            </a:r>
            <a:r>
              <a:rPr lang="en-US" dirty="0">
                <a:ea typeface="+mn-lt"/>
                <a:cs typeface="+mn-lt"/>
              </a:rPr>
              <a:t> y </a:t>
            </a:r>
            <a:r>
              <a:rPr lang="en-US" dirty="0" err="1">
                <a:ea typeface="+mn-lt"/>
                <a:cs typeface="+mn-lt"/>
              </a:rPr>
              <a:t>bitácora</a:t>
            </a:r>
            <a:r>
              <a:rPr lang="en-US" dirty="0">
                <a:ea typeface="+mn-lt"/>
                <a:cs typeface="+mn-lt"/>
              </a:rPr>
              <a:t> de </a:t>
            </a:r>
            <a:r>
              <a:rPr lang="en-US" dirty="0" err="1">
                <a:ea typeface="+mn-lt"/>
                <a:cs typeface="+mn-lt"/>
              </a:rPr>
              <a:t>auditoría</a:t>
            </a:r>
            <a:r>
              <a:rPr lang="en-US" dirty="0">
                <a:ea typeface="+mn-lt"/>
                <a:cs typeface="+mn-lt"/>
              </a:rPr>
              <a:t>.</a:t>
            </a:r>
          </a:p>
          <a:p>
            <a:pPr marL="285750" indent="-285750" algn="just">
              <a:buFont typeface="Arial"/>
              <a:buChar char="•"/>
            </a:pPr>
            <a:endParaRPr lang="en-US" dirty="0">
              <a:ea typeface="+mn-lt"/>
              <a:cs typeface="+mn-lt"/>
            </a:endParaRPr>
          </a:p>
          <a:p>
            <a:pPr marL="285750" indent="-285750" algn="just">
              <a:buFont typeface="Arial"/>
              <a:buChar char="•"/>
            </a:pPr>
            <a:r>
              <a:rPr lang="en-US" dirty="0">
                <a:ea typeface="+mn-lt"/>
                <a:cs typeface="+mn-lt"/>
              </a:rPr>
              <a:t> </a:t>
            </a:r>
            <a:r>
              <a:rPr lang="en-US" dirty="0" err="1">
                <a:ea typeface="+mn-lt"/>
                <a:cs typeface="+mn-lt"/>
              </a:rPr>
              <a:t>Módulo</a:t>
            </a:r>
            <a:r>
              <a:rPr lang="en-US" dirty="0">
                <a:ea typeface="+mn-lt"/>
                <a:cs typeface="+mn-lt"/>
              </a:rPr>
              <a:t> 2. </a:t>
            </a:r>
            <a:r>
              <a:rPr lang="en-US" dirty="0" err="1">
                <a:ea typeface="+mn-lt"/>
                <a:cs typeface="+mn-lt"/>
              </a:rPr>
              <a:t>Gestión</a:t>
            </a:r>
            <a:r>
              <a:rPr lang="en-US" dirty="0">
                <a:ea typeface="+mn-lt"/>
                <a:cs typeface="+mn-lt"/>
              </a:rPr>
              <a:t> de </a:t>
            </a:r>
            <a:r>
              <a:rPr lang="en-US" dirty="0" err="1">
                <a:ea typeface="+mn-lt"/>
                <a:cs typeface="+mn-lt"/>
              </a:rPr>
              <a:t>clientes</a:t>
            </a:r>
            <a:r>
              <a:rPr lang="en-US" dirty="0">
                <a:ea typeface="+mn-lt"/>
                <a:cs typeface="+mn-lt"/>
              </a:rPr>
              <a:t> y </a:t>
            </a:r>
            <a:r>
              <a:rPr lang="en-US" dirty="0" err="1">
                <a:ea typeface="+mn-lt"/>
                <a:cs typeface="+mn-lt"/>
              </a:rPr>
              <a:t>órdenes</a:t>
            </a:r>
            <a:r>
              <a:rPr lang="en-US" dirty="0">
                <a:ea typeface="+mn-lt"/>
                <a:cs typeface="+mn-lt"/>
              </a:rPr>
              <a:t> Registro digital de </a:t>
            </a:r>
            <a:r>
              <a:rPr lang="en-US" dirty="0" err="1">
                <a:ea typeface="+mn-lt"/>
                <a:cs typeface="+mn-lt"/>
              </a:rPr>
              <a:t>clientes</a:t>
            </a:r>
            <a:r>
              <a:rPr lang="en-US" dirty="0">
                <a:ea typeface="+mn-lt"/>
                <a:cs typeface="+mn-lt"/>
              </a:rPr>
              <a:t> y </a:t>
            </a:r>
            <a:r>
              <a:rPr lang="en-US" dirty="0" err="1">
                <a:ea typeface="+mn-lt"/>
                <a:cs typeface="+mn-lt"/>
              </a:rPr>
              <a:t>muebles</a:t>
            </a:r>
            <a:r>
              <a:rPr lang="en-US" dirty="0">
                <a:ea typeface="+mn-lt"/>
                <a:cs typeface="+mn-lt"/>
              </a:rPr>
              <a:t> </a:t>
            </a:r>
            <a:r>
              <a:rPr lang="en-US" dirty="0" err="1">
                <a:ea typeface="+mn-lt"/>
                <a:cs typeface="+mn-lt"/>
              </a:rPr>
              <a:t>entrantes</a:t>
            </a:r>
            <a:r>
              <a:rPr lang="en-US" dirty="0">
                <a:ea typeface="+mn-lt"/>
                <a:cs typeface="+mn-lt"/>
              </a:rPr>
              <a:t> con </a:t>
            </a:r>
            <a:r>
              <a:rPr lang="en-US" dirty="0" err="1">
                <a:ea typeface="+mn-lt"/>
                <a:cs typeface="+mn-lt"/>
              </a:rPr>
              <a:t>categorización</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tipo</a:t>
            </a:r>
            <a:r>
              <a:rPr lang="en-US" dirty="0">
                <a:ea typeface="+mn-lt"/>
                <a:cs typeface="+mn-lt"/>
              </a:rPr>
              <a:t> de </a:t>
            </a:r>
            <a:r>
              <a:rPr lang="en-US" dirty="0" err="1">
                <a:ea typeface="+mn-lt"/>
                <a:cs typeface="+mn-lt"/>
              </a:rPr>
              <a:t>mueble</a:t>
            </a:r>
            <a:r>
              <a:rPr lang="en-US" dirty="0">
                <a:ea typeface="+mn-lt"/>
                <a:cs typeface="+mn-lt"/>
              </a:rPr>
              <a:t>. </a:t>
            </a:r>
            <a:endParaRPr lang="en-US">
              <a:ea typeface="+mn-lt"/>
              <a:cs typeface="+mn-lt"/>
            </a:endParaRPr>
          </a:p>
          <a:p>
            <a:pPr marL="285750" indent="-285750" algn="just">
              <a:buFont typeface="Arial"/>
              <a:buChar char="•"/>
            </a:pPr>
            <a:endParaRPr lang="en-US" dirty="0">
              <a:ea typeface="+mn-lt"/>
              <a:cs typeface="+mn-lt"/>
            </a:endParaRPr>
          </a:p>
          <a:p>
            <a:pPr marL="285750" indent="-285750" algn="just">
              <a:buFont typeface="Arial"/>
              <a:buChar char="•"/>
            </a:pPr>
            <a:r>
              <a:rPr lang="en-US" dirty="0" err="1">
                <a:ea typeface="+mn-lt"/>
                <a:cs typeface="+mn-lt"/>
              </a:rPr>
              <a:t>Módulo</a:t>
            </a:r>
            <a:r>
              <a:rPr lang="en-US" dirty="0">
                <a:ea typeface="+mn-lt"/>
                <a:cs typeface="+mn-lt"/>
              </a:rPr>
              <a:t> 3. </a:t>
            </a:r>
            <a:r>
              <a:rPr lang="en-US" dirty="0" err="1">
                <a:ea typeface="+mn-lt"/>
                <a:cs typeface="+mn-lt"/>
              </a:rPr>
              <a:t>Seguimiento</a:t>
            </a:r>
            <a:r>
              <a:rPr lang="en-US" dirty="0">
                <a:ea typeface="+mn-lt"/>
                <a:cs typeface="+mn-lt"/>
              </a:rPr>
              <a:t> del </a:t>
            </a:r>
            <a:r>
              <a:rPr lang="en-US" dirty="0" err="1">
                <a:ea typeface="+mn-lt"/>
                <a:cs typeface="+mn-lt"/>
              </a:rPr>
              <a:t>proceso</a:t>
            </a:r>
            <a:r>
              <a:rPr lang="en-US" dirty="0">
                <a:ea typeface="+mn-lt"/>
                <a:cs typeface="+mn-lt"/>
              </a:rPr>
              <a:t> </a:t>
            </a:r>
            <a:r>
              <a:rPr lang="en-US" dirty="0" err="1">
                <a:ea typeface="+mn-lt"/>
                <a:cs typeface="+mn-lt"/>
              </a:rPr>
              <a:t>productivo</a:t>
            </a:r>
            <a:r>
              <a:rPr lang="en-US" dirty="0">
                <a:ea typeface="+mn-lt"/>
                <a:cs typeface="+mn-lt"/>
              </a:rPr>
              <a:t> </a:t>
            </a:r>
            <a:r>
              <a:rPr lang="en-US" dirty="0" err="1">
                <a:ea typeface="+mn-lt"/>
                <a:cs typeface="+mn-lt"/>
              </a:rPr>
              <a:t>Trazabilidad</a:t>
            </a:r>
            <a:r>
              <a:rPr lang="en-US" dirty="0">
                <a:ea typeface="+mn-lt"/>
                <a:cs typeface="+mn-lt"/>
              </a:rPr>
              <a:t> </a:t>
            </a:r>
            <a:r>
              <a:rPr lang="en-US" dirty="0" err="1">
                <a:ea typeface="+mn-lt"/>
                <a:cs typeface="+mn-lt"/>
              </a:rPr>
              <a:t>en</a:t>
            </a:r>
            <a:r>
              <a:rPr lang="en-US" dirty="0">
                <a:ea typeface="+mn-lt"/>
                <a:cs typeface="+mn-lt"/>
              </a:rPr>
              <a:t> 6 </a:t>
            </a:r>
            <a:r>
              <a:rPr lang="en-US" dirty="0" err="1">
                <a:ea typeface="+mn-lt"/>
                <a:cs typeface="+mn-lt"/>
              </a:rPr>
              <a:t>etapas</a:t>
            </a:r>
            <a:r>
              <a:rPr lang="en-US" dirty="0">
                <a:ea typeface="+mn-lt"/>
                <a:cs typeface="+mn-lt"/>
              </a:rPr>
              <a:t> con </a:t>
            </a:r>
            <a:r>
              <a:rPr lang="en-US" dirty="0" err="1">
                <a:ea typeface="+mn-lt"/>
                <a:cs typeface="+mn-lt"/>
              </a:rPr>
              <a:t>alertas</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demora</a:t>
            </a:r>
            <a:r>
              <a:rPr lang="en-US" dirty="0">
                <a:ea typeface="+mn-lt"/>
                <a:cs typeface="+mn-lt"/>
              </a:rPr>
              <a:t> y </a:t>
            </a:r>
            <a:r>
              <a:rPr lang="en-US" dirty="0" err="1">
                <a:ea typeface="+mn-lt"/>
                <a:cs typeface="+mn-lt"/>
              </a:rPr>
              <a:t>notificaciones</a:t>
            </a:r>
            <a:r>
              <a:rPr lang="en-US" dirty="0">
                <a:ea typeface="+mn-lt"/>
                <a:cs typeface="+mn-lt"/>
              </a:rPr>
              <a:t> </a:t>
            </a:r>
            <a:r>
              <a:rPr lang="en-US" dirty="0" err="1">
                <a:ea typeface="+mn-lt"/>
                <a:cs typeface="+mn-lt"/>
              </a:rPr>
              <a:t>automáticas</a:t>
            </a:r>
            <a:r>
              <a:rPr lang="en-US" dirty="0">
                <a:ea typeface="+mn-lt"/>
                <a:cs typeface="+mn-lt"/>
              </a:rPr>
              <a:t> al </a:t>
            </a:r>
            <a:r>
              <a:rPr lang="en-US" dirty="0" err="1">
                <a:ea typeface="+mn-lt"/>
                <a:cs typeface="+mn-lt"/>
              </a:rPr>
              <a:t>cliente</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correo</a:t>
            </a:r>
            <a:r>
              <a:rPr lang="en-US" dirty="0">
                <a:ea typeface="+mn-lt"/>
                <a:cs typeface="+mn-lt"/>
              </a:rPr>
              <a:t>. </a:t>
            </a:r>
            <a:endParaRPr lang="en-US">
              <a:ea typeface="+mn-lt"/>
              <a:cs typeface="+mn-lt"/>
            </a:endParaRPr>
          </a:p>
          <a:p>
            <a:pPr marL="285750" indent="-285750" algn="just">
              <a:buFont typeface="Arial"/>
              <a:buChar char="•"/>
            </a:pPr>
            <a:endParaRPr lang="en-US" dirty="0">
              <a:ea typeface="+mn-lt"/>
              <a:cs typeface="+mn-lt"/>
            </a:endParaRPr>
          </a:p>
          <a:p>
            <a:pPr marL="285750" indent="-285750" algn="just">
              <a:buFont typeface="Arial"/>
              <a:buChar char="•"/>
            </a:pPr>
            <a:r>
              <a:rPr lang="en-US" dirty="0" err="1">
                <a:ea typeface="+mn-lt"/>
                <a:cs typeface="+mn-lt"/>
              </a:rPr>
              <a:t>Módulo</a:t>
            </a:r>
            <a:r>
              <a:rPr lang="en-US" dirty="0">
                <a:ea typeface="+mn-lt"/>
                <a:cs typeface="+mn-lt"/>
              </a:rPr>
              <a:t> 4. Control de </a:t>
            </a:r>
            <a:r>
              <a:rPr lang="en-US" dirty="0" err="1">
                <a:ea typeface="+mn-lt"/>
                <a:cs typeface="+mn-lt"/>
              </a:rPr>
              <a:t>inventario</a:t>
            </a:r>
            <a:r>
              <a:rPr lang="en-US" dirty="0">
                <a:ea typeface="+mn-lt"/>
                <a:cs typeface="+mn-lt"/>
              </a:rPr>
              <a:t> de </a:t>
            </a:r>
            <a:r>
              <a:rPr lang="en-US" dirty="0" err="1">
                <a:ea typeface="+mn-lt"/>
                <a:cs typeface="+mn-lt"/>
              </a:rPr>
              <a:t>insumos</a:t>
            </a:r>
            <a:r>
              <a:rPr lang="en-US" dirty="0">
                <a:ea typeface="+mn-lt"/>
                <a:cs typeface="+mn-lt"/>
              </a:rPr>
              <a:t> </a:t>
            </a:r>
            <a:r>
              <a:rPr lang="en-US" dirty="0" err="1">
                <a:ea typeface="+mn-lt"/>
                <a:cs typeface="+mn-lt"/>
              </a:rPr>
              <a:t>Catálogo</a:t>
            </a:r>
            <a:r>
              <a:rPr lang="en-US" dirty="0">
                <a:ea typeface="+mn-lt"/>
                <a:cs typeface="+mn-lt"/>
              </a:rPr>
              <a:t> de </a:t>
            </a:r>
            <a:r>
              <a:rPr lang="en-US" dirty="0" err="1">
                <a:ea typeface="+mn-lt"/>
                <a:cs typeface="+mn-lt"/>
              </a:rPr>
              <a:t>materiales</a:t>
            </a:r>
            <a:r>
              <a:rPr lang="en-US" dirty="0">
                <a:ea typeface="+mn-lt"/>
                <a:cs typeface="+mn-lt"/>
              </a:rPr>
              <a:t> con </a:t>
            </a:r>
            <a:r>
              <a:rPr lang="en-US" dirty="0" err="1">
                <a:ea typeface="+mn-lt"/>
                <a:cs typeface="+mn-lt"/>
              </a:rPr>
              <a:t>descuento</a:t>
            </a:r>
            <a:r>
              <a:rPr lang="en-US" dirty="0">
                <a:ea typeface="+mn-lt"/>
                <a:cs typeface="+mn-lt"/>
              </a:rPr>
              <a:t> </a:t>
            </a:r>
            <a:r>
              <a:rPr lang="en-US" dirty="0" err="1">
                <a:ea typeface="+mn-lt"/>
                <a:cs typeface="+mn-lt"/>
              </a:rPr>
              <a:t>automático</a:t>
            </a:r>
            <a:r>
              <a:rPr lang="en-US" dirty="0">
                <a:ea typeface="+mn-lt"/>
                <a:cs typeface="+mn-lt"/>
              </a:rPr>
              <a:t> </a:t>
            </a:r>
            <a:r>
              <a:rPr lang="en-US" dirty="0" err="1">
                <a:ea typeface="+mn-lt"/>
                <a:cs typeface="+mn-lt"/>
              </a:rPr>
              <a:t>por</a:t>
            </a:r>
            <a:r>
              <a:rPr lang="en-US" dirty="0">
                <a:ea typeface="+mn-lt"/>
                <a:cs typeface="+mn-lt"/>
              </a:rPr>
              <a:t> </a:t>
            </a:r>
            <a:r>
              <a:rPr lang="en-US" dirty="0" err="1">
                <a:ea typeface="+mn-lt"/>
                <a:cs typeface="+mn-lt"/>
              </a:rPr>
              <a:t>reparación</a:t>
            </a:r>
            <a:r>
              <a:rPr lang="en-US" dirty="0">
                <a:ea typeface="+mn-lt"/>
                <a:cs typeface="+mn-lt"/>
              </a:rPr>
              <a:t> y </a:t>
            </a:r>
            <a:r>
              <a:rPr lang="en-US" dirty="0" err="1">
                <a:ea typeface="+mn-lt"/>
                <a:cs typeface="+mn-lt"/>
              </a:rPr>
              <a:t>alertas</a:t>
            </a:r>
            <a:r>
              <a:rPr lang="en-US" dirty="0">
                <a:ea typeface="+mn-lt"/>
                <a:cs typeface="+mn-lt"/>
              </a:rPr>
              <a:t> de stock bajo. </a:t>
            </a:r>
            <a:endParaRPr lang="en-US">
              <a:ea typeface="+mn-lt"/>
              <a:cs typeface="+mn-lt"/>
            </a:endParaRPr>
          </a:p>
          <a:p>
            <a:pPr marL="285750" indent="-285750" algn="just">
              <a:buFont typeface="Arial"/>
              <a:buChar char="•"/>
            </a:pPr>
            <a:endParaRPr lang="en-US" dirty="0">
              <a:ea typeface="+mn-lt"/>
              <a:cs typeface="+mn-lt"/>
            </a:endParaRPr>
          </a:p>
          <a:p>
            <a:pPr marL="285750" indent="-285750" algn="just">
              <a:buFont typeface="Arial"/>
              <a:buChar char="•"/>
            </a:pPr>
            <a:r>
              <a:rPr lang="en-US" dirty="0" err="1">
                <a:ea typeface="+mn-lt"/>
                <a:cs typeface="+mn-lt"/>
              </a:rPr>
              <a:t>Módulo</a:t>
            </a:r>
            <a:r>
              <a:rPr lang="en-US" dirty="0">
                <a:ea typeface="+mn-lt"/>
                <a:cs typeface="+mn-lt"/>
              </a:rPr>
              <a:t> 5. </a:t>
            </a:r>
            <a:r>
              <a:rPr lang="en-US" dirty="0" err="1">
                <a:ea typeface="+mn-lt"/>
                <a:cs typeface="+mn-lt"/>
              </a:rPr>
              <a:t>Reportes</a:t>
            </a:r>
            <a:r>
              <a:rPr lang="en-US" dirty="0">
                <a:ea typeface="+mn-lt"/>
                <a:cs typeface="+mn-lt"/>
              </a:rPr>
              <a:t> y </a:t>
            </a:r>
            <a:r>
              <a:rPr lang="en-US" dirty="0" err="1">
                <a:ea typeface="+mn-lt"/>
                <a:cs typeface="+mn-lt"/>
              </a:rPr>
              <a:t>analítica</a:t>
            </a:r>
            <a:r>
              <a:rPr lang="en-US" dirty="0">
                <a:ea typeface="+mn-lt"/>
                <a:cs typeface="+mn-lt"/>
              </a:rPr>
              <a:t> </a:t>
            </a:r>
            <a:r>
              <a:rPr lang="en-US" dirty="0" err="1">
                <a:ea typeface="+mn-lt"/>
                <a:cs typeface="+mn-lt"/>
              </a:rPr>
              <a:t>Tablero</a:t>
            </a:r>
            <a:r>
              <a:rPr lang="en-US" dirty="0">
                <a:ea typeface="+mn-lt"/>
                <a:cs typeface="+mn-lt"/>
              </a:rPr>
              <a:t> de </a:t>
            </a:r>
            <a:r>
              <a:rPr lang="en-US" dirty="0" err="1">
                <a:ea typeface="+mn-lt"/>
                <a:cs typeface="+mn-lt"/>
              </a:rPr>
              <a:t>indicadores</a:t>
            </a:r>
            <a:r>
              <a:rPr lang="en-US" dirty="0">
                <a:ea typeface="+mn-lt"/>
                <a:cs typeface="+mn-lt"/>
              </a:rPr>
              <a:t> </a:t>
            </a:r>
            <a:r>
              <a:rPr lang="en-US" dirty="0" err="1">
                <a:ea typeface="+mn-lt"/>
                <a:cs typeface="+mn-lt"/>
              </a:rPr>
              <a:t>operativos</a:t>
            </a:r>
            <a:r>
              <a:rPr lang="en-US" dirty="0">
                <a:ea typeface="+mn-lt"/>
                <a:cs typeface="+mn-lt"/>
              </a:rPr>
              <a:t> con </a:t>
            </a:r>
            <a:r>
              <a:rPr lang="en-US" dirty="0" err="1">
                <a:ea typeface="+mn-lt"/>
                <a:cs typeface="+mn-lt"/>
              </a:rPr>
              <a:t>exportación</a:t>
            </a:r>
            <a:r>
              <a:rPr lang="en-US" dirty="0">
                <a:ea typeface="+mn-lt"/>
                <a:cs typeface="+mn-lt"/>
              </a:rPr>
              <a:t> </a:t>
            </a:r>
            <a:r>
              <a:rPr lang="en-US" dirty="0" err="1">
                <a:ea typeface="+mn-lt"/>
                <a:cs typeface="+mn-lt"/>
              </a:rPr>
              <a:t>en</a:t>
            </a:r>
            <a:r>
              <a:rPr lang="en-US" dirty="0">
                <a:ea typeface="+mn-lt"/>
                <a:cs typeface="+mn-lt"/>
              </a:rPr>
              <a:t> PDF y Excel.</a:t>
            </a:r>
            <a:endParaRPr lang="en-US">
              <a:ea typeface="Calibri"/>
              <a:cs typeface="Calibri"/>
            </a:endParaRPr>
          </a:p>
        </p:txBody>
      </p:sp>
    </p:spTree>
    <p:extLst>
      <p:ext uri="{BB962C8B-B14F-4D97-AF65-F5344CB8AC3E}">
        <p14:creationId xmlns:p14="http://schemas.microsoft.com/office/powerpoint/2010/main" val="2628884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F529AC-C651-C58C-61F5-39554CDA570F}"/>
              </a:ext>
            </a:extLst>
          </p:cNvPr>
          <p:cNvSpPr>
            <a:spLocks noGrp="1"/>
          </p:cNvSpPr>
          <p:nvPr>
            <p:ph type="title"/>
          </p:nvPr>
        </p:nvSpPr>
        <p:spPr>
          <a:xfrm>
            <a:off x="838200" y="92982"/>
            <a:ext cx="10515600" cy="1325563"/>
          </a:xfrm>
        </p:spPr>
        <p:txBody>
          <a:bodyPr/>
          <a:lstStyle/>
          <a:p>
            <a:pPr algn="ctr"/>
            <a:r>
              <a:rPr lang="es-CO" b="1">
                <a:solidFill>
                  <a:schemeClr val="bg1"/>
                </a:solidFill>
                <a:latin typeface="Work Sans Medium"/>
                <a:ea typeface="Calibri Light" panose="020F0302020204030204"/>
                <a:cs typeface="Calibri Light" panose="020F0302020204030204"/>
              </a:rPr>
              <a:t>Módulos del sistema (1-2)</a:t>
            </a:r>
            <a:endParaRPr lang="es-ES">
              <a:solidFill>
                <a:schemeClr val="bg1"/>
              </a:solidFill>
              <a:latin typeface="Calibri Light"/>
              <a:ea typeface="Calibri Light" panose="020F0302020204030204"/>
              <a:cs typeface="Calibri Light" panose="020F0302020204030204"/>
            </a:endParaRPr>
          </a:p>
        </p:txBody>
      </p:sp>
      <p:sp>
        <p:nvSpPr>
          <p:cNvPr id="3" name="CuadroTexto 2">
            <a:extLst>
              <a:ext uri="{FF2B5EF4-FFF2-40B4-BE49-F238E27FC236}">
                <a16:creationId xmlns:a16="http://schemas.microsoft.com/office/drawing/2014/main" id="{1BFED7E1-1C8E-E075-D31F-45554A58593F}"/>
              </a:ext>
            </a:extLst>
          </p:cNvPr>
          <p:cNvSpPr txBox="1"/>
          <p:nvPr/>
        </p:nvSpPr>
        <p:spPr>
          <a:xfrm>
            <a:off x="500743" y="2296886"/>
            <a:ext cx="5290458" cy="40241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875"/>
              </a:lnSpc>
            </a:pPr>
            <a:r>
              <a:rPr lang="es-CO" sz="1800" b="1" baseline="0">
                <a:solidFill>
                  <a:srgbClr val="38AA00"/>
                </a:solidFill>
                <a:latin typeface="Calibri"/>
                <a:ea typeface="Calibri"/>
                <a:cs typeface="Calibri"/>
              </a:rPr>
              <a:t>Módulo 1: </a:t>
            </a:r>
            <a:r>
              <a:rPr lang="es-CO" sz="1800" b="1" baseline="0">
                <a:solidFill>
                  <a:srgbClr val="0D0D0D"/>
                </a:solidFill>
                <a:latin typeface="Calibri"/>
                <a:ea typeface="Calibri"/>
                <a:cs typeface="Calibri"/>
              </a:rPr>
              <a:t>Gestión de Usuarios y Roles</a:t>
            </a:r>
            <a:r>
              <a:rPr lang="en-US" sz="1800">
                <a:latin typeface="Calibri"/>
                <a:ea typeface="Calibri"/>
                <a:cs typeface="Calibri"/>
              </a:rPr>
              <a:t>​</a:t>
            </a:r>
          </a:p>
          <a:p>
            <a:pPr>
              <a:lnSpc>
                <a:spcPts val="1875"/>
              </a:lnSpc>
            </a:pPr>
            <a:endParaRPr lang="en-US" dirty="0">
              <a:latin typeface="Calibri"/>
              <a:ea typeface="Calibri"/>
              <a:cs typeface="Calibri"/>
            </a:endParaRPr>
          </a:p>
          <a:p>
            <a:pPr marL="285750" indent="-285750" algn="just">
              <a:lnSpc>
                <a:spcPts val="1875"/>
              </a:lnSpc>
              <a:buFont typeface="Arial"/>
              <a:buChar char="•"/>
            </a:pPr>
            <a:r>
              <a:rPr lang="en-US" dirty="0">
                <a:ea typeface="+mn-lt"/>
                <a:cs typeface="+mn-lt"/>
              </a:rPr>
              <a:t>Cuatro </a:t>
            </a:r>
            <a:r>
              <a:rPr lang="en-US" dirty="0" err="1">
                <a:ea typeface="+mn-lt"/>
                <a:cs typeface="+mn-lt"/>
              </a:rPr>
              <a:t>perfiles</a:t>
            </a:r>
            <a:r>
              <a:rPr lang="en-US" dirty="0">
                <a:ea typeface="+mn-lt"/>
                <a:cs typeface="+mn-lt"/>
              </a:rPr>
              <a:t> de </a:t>
            </a:r>
            <a:r>
              <a:rPr lang="en-US" dirty="0" err="1">
                <a:ea typeface="+mn-lt"/>
                <a:cs typeface="+mn-lt"/>
              </a:rPr>
              <a:t>acceso</a:t>
            </a:r>
            <a:r>
              <a:rPr lang="en-US" dirty="0">
                <a:ea typeface="+mn-lt"/>
                <a:cs typeface="+mn-lt"/>
              </a:rPr>
              <a:t> (</a:t>
            </a:r>
            <a:r>
              <a:rPr lang="en-US" dirty="0" err="1">
                <a:ea typeface="+mn-lt"/>
                <a:cs typeface="+mn-lt"/>
              </a:rPr>
              <a:t>representante</a:t>
            </a:r>
            <a:r>
              <a:rPr lang="en-US" dirty="0">
                <a:ea typeface="+mn-lt"/>
                <a:cs typeface="+mn-lt"/>
              </a:rPr>
              <a:t> legal, </a:t>
            </a:r>
            <a:r>
              <a:rPr lang="en-US" dirty="0" err="1">
                <a:ea typeface="+mn-lt"/>
                <a:cs typeface="+mn-lt"/>
              </a:rPr>
              <a:t>administrador</a:t>
            </a:r>
            <a:r>
              <a:rPr lang="en-US" dirty="0">
                <a:ea typeface="+mn-lt"/>
                <a:cs typeface="+mn-lt"/>
              </a:rPr>
              <a:t>/</a:t>
            </a:r>
            <a:r>
              <a:rPr lang="en-US" dirty="0" err="1">
                <a:ea typeface="+mn-lt"/>
                <a:cs typeface="+mn-lt"/>
              </a:rPr>
              <a:t>tapicero</a:t>
            </a:r>
            <a:r>
              <a:rPr lang="en-US" dirty="0">
                <a:ea typeface="+mn-lt"/>
                <a:cs typeface="+mn-lt"/>
              </a:rPr>
              <a:t>, </a:t>
            </a:r>
            <a:r>
              <a:rPr lang="en-US" dirty="0" err="1">
                <a:ea typeface="+mn-lt"/>
                <a:cs typeface="+mn-lt"/>
              </a:rPr>
              <a:t>fabricante</a:t>
            </a:r>
            <a:r>
              <a:rPr lang="en-US" dirty="0">
                <a:ea typeface="+mn-lt"/>
                <a:cs typeface="+mn-lt"/>
              </a:rPr>
              <a:t>/</a:t>
            </a:r>
            <a:r>
              <a:rPr lang="en-US" dirty="0" err="1">
                <a:ea typeface="+mn-lt"/>
                <a:cs typeface="+mn-lt"/>
              </a:rPr>
              <a:t>reparador</a:t>
            </a:r>
            <a:r>
              <a:rPr lang="en-US" dirty="0">
                <a:ea typeface="+mn-lt"/>
                <a:cs typeface="+mn-lt"/>
              </a:rPr>
              <a:t>, </a:t>
            </a:r>
            <a:r>
              <a:rPr lang="en-US" dirty="0" err="1">
                <a:ea typeface="+mn-lt"/>
                <a:cs typeface="+mn-lt"/>
              </a:rPr>
              <a:t>logística</a:t>
            </a:r>
            <a:r>
              <a:rPr lang="en-US" dirty="0">
                <a:ea typeface="+mn-lt"/>
                <a:cs typeface="+mn-lt"/>
              </a:rPr>
              <a:t>) </a:t>
            </a:r>
            <a:r>
              <a:rPr lang="es-CO" sz="1800" dirty="0">
                <a:latin typeface="Calibri"/>
                <a:ea typeface="Calibri"/>
                <a:cs typeface="Calibri"/>
              </a:rPr>
              <a:t>​</a:t>
            </a:r>
          </a:p>
          <a:p>
            <a:pPr marL="285750" indent="-285750" algn="just">
              <a:lnSpc>
                <a:spcPts val="1875"/>
              </a:lnSpc>
              <a:buFont typeface="Arial"/>
              <a:buChar char="•"/>
            </a:pPr>
            <a:endParaRPr lang="es-CO" dirty="0">
              <a:solidFill>
                <a:srgbClr val="000000"/>
              </a:solidFill>
              <a:latin typeface="Calibri"/>
              <a:ea typeface="Calibri"/>
              <a:cs typeface="Calibri"/>
            </a:endParaRPr>
          </a:p>
          <a:p>
            <a:pPr marL="228600" indent="-228600" algn="just">
              <a:lnSpc>
                <a:spcPts val="1875"/>
              </a:lnSpc>
              <a:buFont typeface="Arial,Sans-Serif"/>
              <a:buChar char="•"/>
            </a:pPr>
            <a:r>
              <a:rPr lang="es-CO">
                <a:solidFill>
                  <a:srgbClr val="0D0D0D"/>
                </a:solidFill>
                <a:latin typeface="Calibri"/>
                <a:ea typeface="Calibri"/>
                <a:cs typeface="Calibri"/>
              </a:rPr>
              <a:t>Bitácora de auditoría: cada acción registrada con usuario, fecha y hora.</a:t>
            </a:r>
            <a:r>
              <a:rPr lang="es-CO" dirty="0">
                <a:solidFill>
                  <a:srgbClr val="000000"/>
                </a:solidFill>
                <a:latin typeface="Calibri"/>
                <a:ea typeface="Calibri"/>
                <a:cs typeface="Calibri"/>
              </a:rPr>
              <a:t> </a:t>
            </a:r>
          </a:p>
          <a:p>
            <a:pPr marL="228600" indent="-228600" algn="just">
              <a:lnSpc>
                <a:spcPts val="1875"/>
              </a:lnSpc>
              <a:buFont typeface="Arial,Sans-Serif"/>
              <a:buChar char="•"/>
            </a:pPr>
            <a:endParaRPr lang="es-CO" dirty="0">
              <a:solidFill>
                <a:srgbClr val="000000"/>
              </a:solidFill>
              <a:latin typeface="Calibri"/>
              <a:ea typeface="Calibri"/>
              <a:cs typeface="Calibri"/>
            </a:endParaRPr>
          </a:p>
          <a:p>
            <a:pPr marL="228600" indent="-228600" algn="just">
              <a:lnSpc>
                <a:spcPts val="1875"/>
              </a:lnSpc>
              <a:buFont typeface="Arial,Sans-Serif"/>
              <a:buChar char="•"/>
            </a:pPr>
            <a:r>
              <a:rPr lang="es-CO">
                <a:solidFill>
                  <a:srgbClr val="0D0D0D"/>
                </a:solidFill>
                <a:latin typeface="Calibri"/>
                <a:ea typeface="Calibri"/>
                <a:cs typeface="Calibri"/>
              </a:rPr>
              <a:t>Inicio de sesión seguro con bloqueo por intentos fallidos.</a:t>
            </a:r>
            <a:r>
              <a:rPr lang="es-CO" dirty="0">
                <a:solidFill>
                  <a:srgbClr val="000000"/>
                </a:solidFill>
                <a:latin typeface="Calibri"/>
                <a:ea typeface="Calibri"/>
                <a:cs typeface="Calibri"/>
              </a:rPr>
              <a:t> </a:t>
            </a:r>
          </a:p>
          <a:p>
            <a:pPr marL="285750" indent="-285750" algn="just">
              <a:lnSpc>
                <a:spcPts val="1875"/>
              </a:lnSpc>
              <a:buFont typeface="Arial"/>
              <a:buChar char="•"/>
            </a:pPr>
            <a:endParaRPr lang="en-US">
              <a:solidFill>
                <a:srgbClr val="000000"/>
              </a:solidFill>
              <a:latin typeface="Calibri"/>
              <a:ea typeface="Calibri"/>
              <a:cs typeface="Calibri"/>
            </a:endParaRPr>
          </a:p>
          <a:p>
            <a:pPr marL="228600" indent="-228600" algn="just">
              <a:lnSpc>
                <a:spcPts val="1875"/>
              </a:lnSpc>
              <a:buFont typeface="Arial,Sans-Serif"/>
              <a:buChar char="•"/>
            </a:pPr>
            <a:endParaRPr lang="es-CO" dirty="0">
              <a:solidFill>
                <a:srgbClr val="000000"/>
              </a:solidFill>
              <a:latin typeface="Calibri"/>
              <a:ea typeface="Calibri"/>
              <a:cs typeface="Calibri"/>
            </a:endParaRPr>
          </a:p>
          <a:p>
            <a:pPr marL="285750" indent="-285750" algn="just">
              <a:lnSpc>
                <a:spcPts val="1875"/>
              </a:lnSpc>
              <a:buFont typeface="Arial"/>
              <a:buChar char="•"/>
            </a:pPr>
            <a:endParaRPr lang="es-CO" dirty="0">
              <a:solidFill>
                <a:srgbClr val="000000"/>
              </a:solidFill>
              <a:latin typeface="Calibri"/>
              <a:ea typeface="Calibri"/>
              <a:cs typeface="Calibri"/>
            </a:endParaRPr>
          </a:p>
          <a:p>
            <a:pPr algn="just">
              <a:lnSpc>
                <a:spcPts val="1875"/>
              </a:lnSpc>
            </a:pPr>
            <a:r>
              <a:rPr lang="es-CO" sz="1800">
                <a:latin typeface="Calibri"/>
                <a:ea typeface="Calibri"/>
                <a:cs typeface="Calibri"/>
              </a:rPr>
              <a:t>​</a:t>
            </a:r>
          </a:p>
          <a:p>
            <a:pPr algn="ctr"/>
            <a:endParaRPr lang="es-ES"/>
          </a:p>
        </p:txBody>
      </p:sp>
      <p:sp>
        <p:nvSpPr>
          <p:cNvPr id="4" name="CuadroTexto 4">
            <a:extLst>
              <a:ext uri="{FF2B5EF4-FFF2-40B4-BE49-F238E27FC236}">
                <a16:creationId xmlns:a16="http://schemas.microsoft.com/office/drawing/2014/main" id="{4E6D22DF-B372-1BF7-CDC8-24C37C357819}"/>
              </a:ext>
            </a:extLst>
          </p:cNvPr>
          <p:cNvSpPr txBox="1"/>
          <p:nvPr/>
        </p:nvSpPr>
        <p:spPr>
          <a:xfrm>
            <a:off x="6338063" y="2283092"/>
            <a:ext cx="5395590" cy="203132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CO" b="1">
                <a:solidFill>
                  <a:srgbClr val="38AA00"/>
                </a:solidFill>
                <a:ea typeface="Calibri"/>
                <a:cs typeface="Calibri"/>
              </a:rPr>
              <a:t>Módulo 2: </a:t>
            </a:r>
            <a:r>
              <a:rPr lang="es-CO" b="1">
                <a:ea typeface="+mn-lt"/>
                <a:cs typeface="+mn-lt"/>
              </a:rPr>
              <a:t>Gestión de clientes y órdenes:</a:t>
            </a:r>
            <a:endParaRPr lang="es-ES" dirty="0">
              <a:ea typeface="+mn-lt"/>
              <a:cs typeface="+mn-lt"/>
            </a:endParaRPr>
          </a:p>
          <a:p>
            <a:endParaRPr lang="es-CO" b="1" dirty="0">
              <a:ea typeface="Calibri"/>
              <a:cs typeface="Calibri"/>
            </a:endParaRPr>
          </a:p>
          <a:p>
            <a:pPr algn="just"/>
            <a:r>
              <a:rPr lang="es-CO">
                <a:ea typeface="+mn-lt"/>
                <a:cs typeface="+mn-lt"/>
              </a:rPr>
              <a:t>registro digital de clientes y muebles entrantes con categorización por tipo (madera maciza, tapizado, modular, antiguo, daño estructural), reemplazando el cuaderno físico actual.</a:t>
            </a:r>
            <a:endParaRPr lang="es-CO">
              <a:ea typeface="Calibri" panose="020F0502020204030204"/>
              <a:cs typeface="Calibri" panose="020F0502020204030204"/>
            </a:endParaRPr>
          </a:p>
          <a:p>
            <a:endParaRPr lang="es-CO" b="1" dirty="0">
              <a:ea typeface="Calibri"/>
              <a:cs typeface="Calibri"/>
            </a:endParaRPr>
          </a:p>
        </p:txBody>
      </p:sp>
      <p:cxnSp>
        <p:nvCxnSpPr>
          <p:cNvPr id="6" name="Conector recto de flecha 4">
            <a:extLst>
              <a:ext uri="{FF2B5EF4-FFF2-40B4-BE49-F238E27FC236}">
                <a16:creationId xmlns:a16="http://schemas.microsoft.com/office/drawing/2014/main" id="{052B4866-1A3E-848F-F5D2-F7A5E8DE3E7C}"/>
              </a:ext>
            </a:extLst>
          </p:cNvPr>
          <p:cNvCxnSpPr/>
          <p:nvPr/>
        </p:nvCxnSpPr>
        <p:spPr>
          <a:xfrm>
            <a:off x="5987142" y="1719942"/>
            <a:ext cx="54428" cy="4898571"/>
          </a:xfrm>
          <a:prstGeom prst="straightConnector1">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723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D14512A-82C3-3CB3-E1AA-69022CA85BD8}"/>
              </a:ext>
            </a:extLst>
          </p:cNvPr>
          <p:cNvSpPr txBox="1"/>
          <p:nvPr/>
        </p:nvSpPr>
        <p:spPr>
          <a:xfrm>
            <a:off x="936171" y="2351314"/>
            <a:ext cx="4234542" cy="26654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700">
                <a:latin typeface="Calibri"/>
                <a:ea typeface="Segoe UI"/>
                <a:cs typeface="Segoe UI"/>
              </a:rPr>
              <a:t>​</a:t>
            </a:r>
          </a:p>
          <a:p>
            <a:pPr>
              <a:lnSpc>
                <a:spcPts val="1800"/>
              </a:lnSpc>
            </a:pPr>
            <a:r>
              <a:rPr lang="es-CO" b="1" baseline="0">
                <a:solidFill>
                  <a:srgbClr val="38AA00"/>
                </a:solidFill>
                <a:latin typeface="Calibri"/>
                <a:ea typeface="Calibri"/>
                <a:cs typeface="Calibri"/>
              </a:rPr>
              <a:t>Módulo 3: </a:t>
            </a:r>
            <a:r>
              <a:rPr lang="es-CO" b="1">
                <a:ea typeface="+mn-lt"/>
                <a:cs typeface="+mn-lt"/>
              </a:rPr>
              <a:t>Seguimiento de órdenes en tiempo real: </a:t>
            </a:r>
          </a:p>
          <a:p>
            <a:pPr>
              <a:lnSpc>
                <a:spcPts val="1800"/>
              </a:lnSpc>
            </a:pPr>
            <a:endParaRPr lang="en-US" dirty="0">
              <a:latin typeface="Calibri"/>
              <a:ea typeface="Calibri"/>
              <a:cs typeface="Calibri"/>
            </a:endParaRPr>
          </a:p>
          <a:p>
            <a:pPr algn="just">
              <a:lnSpc>
                <a:spcPts val="1800"/>
              </a:lnSpc>
            </a:pPr>
            <a:r>
              <a:rPr lang="es-CO">
                <a:solidFill>
                  <a:srgbClr val="0D0D0D"/>
                </a:solidFill>
                <a:ea typeface="+mn-lt"/>
                <a:cs typeface="+mn-lt"/>
              </a:rPr>
              <a:t>Trazabilidad</a:t>
            </a:r>
            <a:r>
              <a:rPr lang="es-CO" dirty="0">
                <a:solidFill>
                  <a:srgbClr val="0D0D0D"/>
                </a:solidFill>
                <a:ea typeface="+mn-lt"/>
                <a:cs typeface="+mn-lt"/>
              </a:rPr>
              <a:t> del mueble a través de seis etapas definidas (Recepción, Diagnóstico, Reparación, Inspección, Listo, Entregado), con alertas internas por demora y notificaciones automáticas al cliente por correo electrónico en cada cambio de estado.</a:t>
            </a:r>
            <a:endParaRPr lang="es-CO" dirty="0">
              <a:ea typeface="Calibri" panose="020F0502020204030204"/>
              <a:cs typeface="Calibri" panose="020F0502020204030204"/>
            </a:endParaRPr>
          </a:p>
        </p:txBody>
      </p:sp>
      <p:sp>
        <p:nvSpPr>
          <p:cNvPr id="4" name="CuadroTexto 3">
            <a:extLst>
              <a:ext uri="{FF2B5EF4-FFF2-40B4-BE49-F238E27FC236}">
                <a16:creationId xmlns:a16="http://schemas.microsoft.com/office/drawing/2014/main" id="{9E1F351E-226B-FE78-B794-34C13DAB35E4}"/>
              </a:ext>
            </a:extLst>
          </p:cNvPr>
          <p:cNvSpPr txBox="1"/>
          <p:nvPr/>
        </p:nvSpPr>
        <p:spPr>
          <a:xfrm>
            <a:off x="6694714" y="2536372"/>
            <a:ext cx="5018315" cy="1410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75"/>
              </a:lnSpc>
            </a:pPr>
            <a:r>
              <a:rPr lang="es-CO" sz="1800" b="1" baseline="0">
                <a:solidFill>
                  <a:srgbClr val="38AA00"/>
                </a:solidFill>
                <a:latin typeface="Calibri"/>
                <a:ea typeface="Calibri"/>
                <a:cs typeface="Calibri"/>
              </a:rPr>
              <a:t>Módulo 4: </a:t>
            </a:r>
            <a:r>
              <a:rPr lang="es-CO" b="1">
                <a:ea typeface="+mn-lt"/>
                <a:cs typeface="+mn-lt"/>
              </a:rPr>
              <a:t>Control de inventario de insumos: </a:t>
            </a:r>
            <a:endParaRPr lang="es-CO" b="1">
              <a:latin typeface="Calibri"/>
              <a:ea typeface="Calibri"/>
              <a:cs typeface="Calibri"/>
            </a:endParaRPr>
          </a:p>
          <a:p>
            <a:pPr algn="just">
              <a:lnSpc>
                <a:spcPts val="1875"/>
              </a:lnSpc>
            </a:pPr>
            <a:r>
              <a:rPr lang="en-US" sz="1800">
                <a:latin typeface="Calibri"/>
                <a:ea typeface="Calibri"/>
                <a:cs typeface="Calibri"/>
              </a:rPr>
              <a:t>​</a:t>
            </a:r>
            <a:endParaRPr lang="en-US">
              <a:latin typeface="Calibri"/>
              <a:ea typeface="Calibri"/>
              <a:cs typeface="Calibri"/>
            </a:endParaRPr>
          </a:p>
          <a:p>
            <a:pPr algn="just"/>
            <a:r>
              <a:rPr lang="es-ES">
                <a:ea typeface="+mn-lt"/>
                <a:cs typeface="+mn-lt"/>
              </a:rPr>
              <a:t>catálogo digital de materiales con descuento automático al registrar cada reparación y alertas de stock bajo.</a:t>
            </a:r>
            <a:endParaRPr lang="es-ES">
              <a:ea typeface="Calibri" panose="020F0502020204030204"/>
              <a:cs typeface="Calibri" panose="020F0502020204030204"/>
            </a:endParaRPr>
          </a:p>
        </p:txBody>
      </p:sp>
      <p:cxnSp>
        <p:nvCxnSpPr>
          <p:cNvPr id="5" name="Conector recto de flecha 4">
            <a:extLst>
              <a:ext uri="{FF2B5EF4-FFF2-40B4-BE49-F238E27FC236}">
                <a16:creationId xmlns:a16="http://schemas.microsoft.com/office/drawing/2014/main" id="{6F3E8A72-950F-DE22-1CCE-7321C28D06B8}"/>
              </a:ext>
            </a:extLst>
          </p:cNvPr>
          <p:cNvCxnSpPr/>
          <p:nvPr/>
        </p:nvCxnSpPr>
        <p:spPr>
          <a:xfrm>
            <a:off x="5987142" y="1719942"/>
            <a:ext cx="54428" cy="4898571"/>
          </a:xfrm>
          <a:prstGeom prst="straightConnector1">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89280E10-FBE1-78D1-87C4-C6B14EC3FDB2}"/>
              </a:ext>
            </a:extLst>
          </p:cNvPr>
          <p:cNvSpPr txBox="1"/>
          <p:nvPr/>
        </p:nvSpPr>
        <p:spPr>
          <a:xfrm>
            <a:off x="2754087" y="217715"/>
            <a:ext cx="7609113"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4400" b="1" baseline="0">
                <a:solidFill>
                  <a:srgbClr val="FFFFFF"/>
                </a:solidFill>
                <a:latin typeface="Work Sans Medium"/>
              </a:rPr>
              <a:t>Módulos del sistema </a:t>
            </a:r>
            <a:r>
              <a:rPr lang="es-CO" sz="4400" b="1">
                <a:solidFill>
                  <a:srgbClr val="FFFFFF"/>
                </a:solidFill>
                <a:latin typeface="Work Sans Medium"/>
              </a:rPr>
              <a:t>(3-4)</a:t>
            </a:r>
            <a:r>
              <a:rPr sz="4400" dirty="0">
                <a:latin typeface="Work Sans Medium"/>
                <a:ea typeface="Work Sans Medium"/>
                <a:cs typeface="Work Sans Medium"/>
              </a:rPr>
              <a:t>​</a:t>
            </a:r>
            <a:endParaRPr lang="es-ES" dirty="0"/>
          </a:p>
          <a:p>
            <a:pPr algn="ctr"/>
            <a:endParaRPr lang="es-ES"/>
          </a:p>
        </p:txBody>
      </p:sp>
    </p:spTree>
    <p:extLst>
      <p:ext uri="{BB962C8B-B14F-4D97-AF65-F5344CB8AC3E}">
        <p14:creationId xmlns:p14="http://schemas.microsoft.com/office/powerpoint/2010/main" val="574050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1987F94-5781-7292-0E65-ABB21EB3C3D7}"/>
              </a:ext>
            </a:extLst>
          </p:cNvPr>
          <p:cNvSpPr txBox="1"/>
          <p:nvPr/>
        </p:nvSpPr>
        <p:spPr>
          <a:xfrm>
            <a:off x="466191" y="1715640"/>
            <a:ext cx="5633424" cy="41652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s-CO" sz="900">
                <a:latin typeface="Arial"/>
                <a:ea typeface="Segoe UI"/>
                <a:cs typeface="Segoe UI"/>
              </a:rPr>
              <a:t>​</a:t>
            </a:r>
          </a:p>
          <a:p>
            <a:pPr algn="just">
              <a:lnSpc>
                <a:spcPts val="1875"/>
              </a:lnSpc>
            </a:pPr>
            <a:r>
              <a:rPr lang="es-CO" sz="1600" b="1" baseline="0">
                <a:solidFill>
                  <a:srgbClr val="38AA00"/>
                </a:solidFill>
                <a:latin typeface="Calibri"/>
                <a:ea typeface="Calibri"/>
                <a:cs typeface="Calibri"/>
              </a:rPr>
              <a:t>Módulo 5: </a:t>
            </a:r>
            <a:r>
              <a:rPr lang="es-CO" sz="1600" b="1">
                <a:ea typeface="+mn-lt"/>
                <a:cs typeface="+mn-lt"/>
              </a:rPr>
              <a:t>Reportes y analítica:</a:t>
            </a:r>
          </a:p>
          <a:p>
            <a:pPr algn="just">
              <a:lnSpc>
                <a:spcPts val="1875"/>
              </a:lnSpc>
            </a:pPr>
            <a:endParaRPr lang="es-CO" sz="1600" b="1" dirty="0">
              <a:solidFill>
                <a:srgbClr val="000000"/>
              </a:solidFill>
              <a:ea typeface="+mn-lt"/>
              <a:cs typeface="+mn-lt"/>
            </a:endParaRPr>
          </a:p>
          <a:p>
            <a:pPr algn="just"/>
            <a:r>
              <a:rPr lang="es-CO" sz="1600" b="1">
                <a:solidFill>
                  <a:srgbClr val="000000"/>
                </a:solidFill>
                <a:ea typeface="+mn-lt"/>
                <a:cs typeface="+mn-lt"/>
              </a:rPr>
              <a:t>¿Qué muestra el tablero principal?</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Muebles activos por etapa en tiempo real</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Tiempo promedio de reparación por categoría de mueble</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Entregas completadas del día, semana y mes</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Alertas de muebles con más días del estimado en una etapa</a:t>
            </a:r>
            <a:endParaRPr lang="es-CO" sz="1600">
              <a:ea typeface="Calibri" panose="020F0502020204030204"/>
              <a:cs typeface="Calibri" panose="020F0502020204030204"/>
            </a:endParaRPr>
          </a:p>
          <a:p>
            <a:pPr algn="just"/>
            <a:r>
              <a:rPr lang="es-CO" sz="1600" b="1">
                <a:solidFill>
                  <a:srgbClr val="000000"/>
                </a:solidFill>
                <a:ea typeface="+mn-lt"/>
                <a:cs typeface="+mn-lt"/>
              </a:rPr>
              <a:t>Reportes exportables:</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Reporte de órdenes por período (diario, semanal, mensual)</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Reporte de consumo de materiales por reparación</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Reporte de tiempos por etapa para identificar cuellos de botella</a:t>
            </a:r>
            <a:endParaRPr lang="es-CO" sz="1600">
              <a:ea typeface="Calibri" panose="020F0502020204030204"/>
              <a:cs typeface="Calibri" panose="020F0502020204030204"/>
            </a:endParaRPr>
          </a:p>
          <a:p>
            <a:pPr marL="285750" indent="-285750" algn="just">
              <a:buFont typeface="Arial"/>
              <a:buChar char="•"/>
            </a:pPr>
            <a:r>
              <a:rPr lang="es-CO" sz="1600">
                <a:solidFill>
                  <a:srgbClr val="000000"/>
                </a:solidFill>
                <a:ea typeface="+mn-lt"/>
                <a:cs typeface="+mn-lt"/>
              </a:rPr>
              <a:t>Exportación en PDF para el administrador y en Excel para archivo o contabilidad </a:t>
            </a:r>
          </a:p>
          <a:p>
            <a:pPr marL="285750" indent="-285750" algn="just">
              <a:buFont typeface="Arial"/>
              <a:buChar char="•"/>
            </a:pPr>
            <a:endParaRPr lang="es-CO" sz="1600" dirty="0">
              <a:ea typeface="Calibri"/>
              <a:cs typeface="Calibri"/>
            </a:endParaRPr>
          </a:p>
          <a:p>
            <a:pPr algn="just"/>
            <a:endParaRPr lang="es-CO" sz="1600" dirty="0">
              <a:ea typeface="Calibri"/>
              <a:cs typeface="Calibri"/>
            </a:endParaRPr>
          </a:p>
        </p:txBody>
      </p:sp>
      <p:sp>
        <p:nvSpPr>
          <p:cNvPr id="7" name="CuadroTexto 6">
            <a:extLst>
              <a:ext uri="{FF2B5EF4-FFF2-40B4-BE49-F238E27FC236}">
                <a16:creationId xmlns:a16="http://schemas.microsoft.com/office/drawing/2014/main" id="{5C1AC4E4-EA71-8DA0-4A22-4CF38C1C38B2}"/>
              </a:ext>
            </a:extLst>
          </p:cNvPr>
          <p:cNvSpPr txBox="1"/>
          <p:nvPr/>
        </p:nvSpPr>
        <p:spPr>
          <a:xfrm>
            <a:off x="2104746" y="327883"/>
            <a:ext cx="7979228"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4400" b="1" baseline="0">
                <a:solidFill>
                  <a:srgbClr val="FFFFFF"/>
                </a:solidFill>
                <a:latin typeface="Work Sans Medium"/>
              </a:rPr>
              <a:t>Módulos del sistema (</a:t>
            </a:r>
            <a:r>
              <a:rPr lang="es-CO" sz="4400" b="1">
                <a:solidFill>
                  <a:srgbClr val="FFFFFF"/>
                </a:solidFill>
                <a:latin typeface="Work Sans Medium"/>
              </a:rPr>
              <a:t>5</a:t>
            </a:r>
            <a:r>
              <a:rPr lang="es-CO" sz="4400" b="1" baseline="0">
                <a:solidFill>
                  <a:srgbClr val="FFFFFF"/>
                </a:solidFill>
                <a:latin typeface="Work Sans Medium"/>
              </a:rPr>
              <a:t>)</a:t>
            </a:r>
            <a:r>
              <a:rPr sz="4400">
                <a:latin typeface="Work Sans Medium"/>
                <a:ea typeface="Work Sans Medium"/>
                <a:cs typeface="Work Sans Medium"/>
              </a:rPr>
              <a:t>​</a:t>
            </a:r>
            <a:endParaRPr lang="es-ES"/>
          </a:p>
          <a:p>
            <a:pPr algn="ctr"/>
            <a:endParaRPr lang="es-ES"/>
          </a:p>
        </p:txBody>
      </p:sp>
      <p:sp>
        <p:nvSpPr>
          <p:cNvPr id="2" name="CuadroTexto 1">
            <a:extLst>
              <a:ext uri="{FF2B5EF4-FFF2-40B4-BE49-F238E27FC236}">
                <a16:creationId xmlns:a16="http://schemas.microsoft.com/office/drawing/2014/main" id="{7D9AE9CD-34C6-0372-11CA-A4EE68F874EB}"/>
              </a:ext>
            </a:extLst>
          </p:cNvPr>
          <p:cNvSpPr txBox="1"/>
          <p:nvPr/>
        </p:nvSpPr>
        <p:spPr>
          <a:xfrm>
            <a:off x="6384588" y="1714137"/>
            <a:ext cx="4652789"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s-CO" sz="1600" dirty="0">
              <a:ea typeface="Calibri"/>
              <a:cs typeface="Calibri"/>
            </a:endParaRPr>
          </a:p>
          <a:p>
            <a:pPr marL="171450" indent="-171450" algn="just">
              <a:buFont typeface="Arial,Sans-Serif"/>
              <a:buChar char="•"/>
            </a:pPr>
            <a:r>
              <a:rPr lang="es-CO" sz="1600" dirty="0">
                <a:ea typeface="Calibri"/>
                <a:cs typeface="Calibri"/>
              </a:rPr>
              <a:t>Base de datos centralizada</a:t>
            </a:r>
          </a:p>
          <a:p>
            <a:pPr algn="just"/>
            <a:r>
              <a:rPr lang="es-CO" sz="1600" dirty="0">
                <a:ea typeface="Calibri"/>
                <a:cs typeface="Calibri"/>
              </a:rPr>
              <a:t>Todos los reportes se generan automáticamente desde</a:t>
            </a:r>
          </a:p>
          <a:p>
            <a:pPr algn="just"/>
            <a:r>
              <a:rPr lang="es-CO" sz="1600" dirty="0">
                <a:ea typeface="Calibri"/>
                <a:cs typeface="Calibri"/>
              </a:rPr>
              <a:t>los datos registrados en los demás módulos, sin necesidad</a:t>
            </a:r>
          </a:p>
          <a:p>
            <a:pPr algn="just"/>
            <a:r>
              <a:rPr lang="es-CO" sz="1600" dirty="0">
                <a:ea typeface="Calibri"/>
                <a:cs typeface="Calibri"/>
              </a:rPr>
              <a:t>de copiar información manualmente.</a:t>
            </a:r>
          </a:p>
          <a:p>
            <a:pPr algn="l"/>
            <a:endParaRPr lang="es-ES" sz="1600" dirty="0">
              <a:ea typeface="Calibri"/>
              <a:cs typeface="Calibri"/>
            </a:endParaRPr>
          </a:p>
        </p:txBody>
      </p:sp>
    </p:spTree>
    <p:extLst>
      <p:ext uri="{BB962C8B-B14F-4D97-AF65-F5344CB8AC3E}">
        <p14:creationId xmlns:p14="http://schemas.microsoft.com/office/powerpoint/2010/main" val="1751685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  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1441</Words>
  <Application>Microsoft Office PowerPoint</Application>
  <PresentationFormat>Panorámica</PresentationFormat>
  <Paragraphs>104</Paragraphs>
  <Slides>12</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12</vt:i4>
      </vt:variant>
    </vt:vector>
  </HeadingPairs>
  <TitlesOfParts>
    <vt:vector size="20" baseType="lpstr">
      <vt:lpstr>Arial</vt:lpstr>
      <vt:lpstr>Arial,Sans-Serif</vt:lpstr>
      <vt:lpstr>Calibri</vt:lpstr>
      <vt:lpstr>Calibri Light</vt:lpstr>
      <vt:lpstr>Work Sans</vt:lpstr>
      <vt:lpstr>Work Sans Light</vt:lpstr>
      <vt:lpstr>Work Sans Medium</vt:lpstr>
      <vt:lpstr>Tema de Office</vt:lpstr>
      <vt:lpstr>Presentación de PowerPoint</vt:lpstr>
      <vt:lpstr>Presentación de PowerPoint</vt:lpstr>
      <vt:lpstr>Planteamiento del problema</vt:lpstr>
      <vt:lpstr>Justificación </vt:lpstr>
      <vt:lpstr>Pregunta problema</vt:lpstr>
      <vt:lpstr>Presentación de PowerPoint</vt:lpstr>
      <vt:lpstr>Objetivos Específicos</vt:lpstr>
      <vt:lpstr>Presentación de PowerPoint</vt:lpstr>
      <vt:lpstr>Módulos del sistema (1-2)</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Yuliana Bobadilla Cubillos</cp:lastModifiedBy>
  <cp:revision>535</cp:revision>
  <dcterms:created xsi:type="dcterms:W3CDTF">2020-10-01T23:51:28Z</dcterms:created>
  <dcterms:modified xsi:type="dcterms:W3CDTF">2026-06-22T22:16:00Z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