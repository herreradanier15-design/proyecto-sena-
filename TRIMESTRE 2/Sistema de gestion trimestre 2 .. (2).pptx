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468" r:id="rId2"/>
    <p:sldId id="510" r:id="rId3"/>
    <p:sldId id="502" r:id="rId4"/>
    <p:sldId id="523" r:id="rId5"/>
    <p:sldId id="512" r:id="rId6"/>
    <p:sldId id="527" r:id="rId7"/>
    <p:sldId id="528" r:id="rId8"/>
    <p:sldId id="529" r:id="rId9"/>
    <p:sldId id="530" r:id="rId10"/>
    <p:sldId id="264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927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0222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B25968F-984F-8BF4-4FF0-2432A9923E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7833" y="317431"/>
            <a:ext cx="811391" cy="7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28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  Descripción generada automáticamente">
            <a:extLst>
              <a:ext uri="{FF2B5EF4-FFF2-40B4-BE49-F238E27FC236}">
                <a16:creationId xmlns:a16="http://schemas.microsoft.com/office/drawing/2014/main" id="{EDE1298D-A4F7-F1E4-F1B3-3D2F5117E0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B39820-C822-5D71-439D-76D8E95C16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859" y="303050"/>
            <a:ext cx="855785" cy="83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60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  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2" r:id="rId11"/>
    <p:sldLayoutId id="2147483659" r:id="rId12"/>
    <p:sldLayoutId id="2147483663" r:id="rId13"/>
    <p:sldLayoutId id="2147483675" r:id="rId14"/>
    <p:sldLayoutId id="214748367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1236053" y="2431521"/>
            <a:ext cx="7476360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3200" b="1">
                <a:solidFill>
                  <a:schemeClr val="tx1">
                    <a:lumMod val="75000"/>
                    <a:lumOff val="25000"/>
                  </a:schemeClr>
                </a:solidFill>
                <a:latin typeface="Work Sans"/>
              </a:rPr>
              <a:t>Sistema Inteligente de Gestión para </a:t>
            </a:r>
          </a:p>
          <a:p>
            <a:r>
              <a:rPr lang="es-ES" sz="3200" b="1">
                <a:solidFill>
                  <a:schemeClr val="tx1">
                    <a:lumMod val="75000"/>
                    <a:lumOff val="25000"/>
                  </a:schemeClr>
                </a:solidFill>
                <a:latin typeface="Work Sans"/>
              </a:rPr>
              <a:t>Taller de Reparación de Muebles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68E097C-9368-092B-1FB4-6E9ABB8A5FC5}"/>
              </a:ext>
            </a:extLst>
          </p:cNvPr>
          <p:cNvSpPr txBox="1">
            <a:spLocks/>
          </p:cNvSpPr>
          <p:nvPr/>
        </p:nvSpPr>
        <p:spPr>
          <a:xfrm>
            <a:off x="1238289" y="3956909"/>
            <a:ext cx="3938337" cy="68662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200">
                <a:latin typeface="Work Sans Medium"/>
              </a:rPr>
              <a:t>Danier Felipe Herrera Charry</a:t>
            </a:r>
            <a:endParaRPr lang="es-CO" sz="1200">
              <a:latin typeface="Work Sans Medium" pitchFamily="2" charset="77"/>
            </a:endParaRPr>
          </a:p>
          <a:p>
            <a:r>
              <a:rPr lang="es-CO" sz="1200">
                <a:latin typeface="Work Sans Medium"/>
              </a:rPr>
              <a:t>Eydy Yuliana Bobadilla Cubillos</a:t>
            </a:r>
          </a:p>
          <a:p>
            <a:r>
              <a:rPr lang="es-CO" sz="1200">
                <a:latin typeface="Work Sans Medium"/>
              </a:rPr>
              <a:t>Jhoan Sebastián Martínez Gómez</a:t>
            </a:r>
            <a:endParaRPr lang="es-CO" sz="1200">
              <a:latin typeface="Work Sans Medium" pitchFamily="2" charset="77"/>
            </a:endParaRPr>
          </a:p>
          <a:p>
            <a:r>
              <a:rPr lang="es-CO" sz="1200">
                <a:latin typeface="Work Sans Medium"/>
              </a:rPr>
              <a:t>Santiago Ortigoza Javela </a:t>
            </a:r>
          </a:p>
          <a:p>
            <a:endParaRPr lang="es-CO" sz="1200">
              <a:solidFill>
                <a:srgbClr val="38AA00"/>
              </a:solidFill>
              <a:latin typeface="Work Sans Medium"/>
            </a:endParaRPr>
          </a:p>
          <a:p>
            <a:r>
              <a:rPr lang="es-CO" sz="1200" b="1">
                <a:latin typeface="Work Sans Medium"/>
              </a:rPr>
              <a:t>Ficha:</a:t>
            </a:r>
            <a:r>
              <a:rPr lang="es-CO" sz="1200">
                <a:latin typeface="Work Sans Medium"/>
              </a:rPr>
              <a:t> 3388486</a:t>
            </a:r>
          </a:p>
        </p:txBody>
      </p:sp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>
                <a:solidFill>
                  <a:srgbClr val="38AA00"/>
                </a:solidFill>
                <a:latin typeface="Work Sans Medium"/>
              </a:rPr>
              <a:t>Introducción</a:t>
            </a:r>
            <a:endParaRPr lang="es-CO" b="1">
              <a:solidFill>
                <a:srgbClr val="38AA00"/>
              </a:solidFill>
              <a:latin typeface="Work Sans Medium" pitchFamily="2" charset="77"/>
            </a:endParaRPr>
          </a:p>
        </p:txBody>
      </p:sp>
      <p:sp>
        <p:nvSpPr>
          <p:cNvPr id="3" name="Contenido 2"/>
          <p:cNvSpPr txBox="1"/>
          <p:nvPr/>
        </p:nvSpPr>
        <p:spPr>
          <a:xfrm>
            <a:off x="456236" y="1700000"/>
            <a:ext cx="10515600" cy="470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r>
              <a:rPr lang="es-CO" b="1" dirty="0">
                <a:solidFill>
                  <a:srgbClr val="38AA00"/>
                </a:solidFill>
              </a:rPr>
              <a:t>Realidad actual del negocio: Compra y Venta de Muebles La Caqueteña</a:t>
            </a:r>
          </a:p>
          <a:p>
            <a:r>
              <a:rPr lang="es-CO" dirty="0"/>
              <a:t>Antes de proponer cualquier solución, es necesario comprender cómo funciona actualmente el negocio y cuáles son sus principales dificultades operativas.</a:t>
            </a:r>
          </a:p>
          <a:p>
            <a:endParaRPr lang="es-CO" dirty="0">
              <a:solidFill>
                <a:srgbClr val="38AA00"/>
              </a:solidFill>
            </a:endParaRPr>
          </a:p>
          <a:p>
            <a:r>
              <a:rPr lang="es-CO" b="1" dirty="0">
                <a:solidFill>
                  <a:srgbClr val="38AA00"/>
                </a:solidFill>
              </a:rPr>
              <a:t>Herramientas actuales</a:t>
            </a:r>
          </a:p>
          <a:p>
            <a:r>
              <a:rPr lang="es-CO" dirty="0"/>
              <a:t>Registro de clientes, muebles, costos, inventario y reparaciones en </a:t>
            </a:r>
            <a:r>
              <a:rPr lang="es-CO" b="1" dirty="0"/>
              <a:t>cuadernos físicos</a:t>
            </a:r>
            <a:r>
              <a:rPr lang="es-CO" dirty="0"/>
              <a:t>. </a:t>
            </a:r>
          </a:p>
          <a:p>
            <a:r>
              <a:rPr lang="es-CO" dirty="0"/>
              <a:t>No existe un sistema digital ni respaldo de la información. </a:t>
            </a:r>
          </a:p>
          <a:p>
            <a:r>
              <a:rPr lang="es-CO" dirty="0"/>
              <a:t>La pérdida de un cuaderno implica la pérdida total de datos importantes del negocio.</a:t>
            </a:r>
          </a:p>
          <a:p>
            <a:pPr>
              <a:buNone/>
            </a:pPr>
            <a:endParaRPr lang="es-CO" dirty="0">
              <a:latin typeface="Calibri"/>
              <a:ea typeface="Calibri"/>
              <a:cs typeface="Calibri"/>
            </a:endParaRPr>
          </a:p>
          <a:p>
            <a:r>
              <a:rPr lang="es-CO" b="1" dirty="0">
                <a:solidFill>
                  <a:srgbClr val="38AA00"/>
                </a:solidFill>
              </a:rPr>
              <a:t>Operación diaria</a:t>
            </a:r>
          </a:p>
          <a:p>
            <a:r>
              <a:rPr lang="es-CO" dirty="0"/>
              <a:t>El administrador recibe el mueble y registra la información de forma manual en un cuaderno. </a:t>
            </a:r>
          </a:p>
          <a:p>
            <a:r>
              <a:rPr lang="es-CO" dirty="0"/>
              <a:t>El mismo administrador también participa en procesos de restauración y tapicería. </a:t>
            </a:r>
          </a:p>
          <a:p>
            <a:r>
              <a:rPr lang="es-CO" dirty="0"/>
              <a:t>El fabricante o reparador ejecuta el trabajo según lo indicado, basándose en información registrada manualmente o comunicada verbalmente.</a:t>
            </a:r>
          </a:p>
          <a:p>
            <a:pPr algn="l">
              <a:buChar char="•"/>
            </a:pPr>
            <a:endParaRPr lang="es-CO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</a:endParaRPr>
          </a:p>
          <a:p>
            <a:pPr>
              <a:buNone/>
            </a:pPr>
            <a:endParaRPr lang="es-CO" sz="800" dirty="0">
              <a:latin typeface="Calibri"/>
              <a:ea typeface="Calibri"/>
              <a:cs typeface="Calibri"/>
            </a:endParaRPr>
          </a:p>
          <a:p>
            <a:pPr algn="l">
              <a:buNone/>
            </a:pPr>
            <a:endParaRPr lang="es-CO" sz="1500" dirty="0">
              <a:latin typeface="Work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pPr algn="ctr"/>
            <a:r>
              <a:rPr lang="es-CO" b="1">
                <a:solidFill>
                  <a:schemeClr val="bg1"/>
                </a:solidFill>
                <a:latin typeface="Work Sans Medium"/>
              </a:rPr>
              <a:t>Planteamiento del problema</a:t>
            </a:r>
            <a:endParaRPr lang="es-ES" b="1">
              <a:solidFill>
                <a:schemeClr val="bg1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785B91B-1521-7D25-ACB2-6D198FE87D13}"/>
              </a:ext>
            </a:extLst>
          </p:cNvPr>
          <p:cNvSpPr txBox="1"/>
          <p:nvPr/>
        </p:nvSpPr>
        <p:spPr>
          <a:xfrm>
            <a:off x="456236" y="1624021"/>
            <a:ext cx="11069308" cy="50229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dirty="0"/>
              <a:t>El taller de reparación y restauración de muebles Compra y Venta La Caqueteña, ubicado en el barrio Paraíso Mirador de Ciudad Bolívar en Bogotá, atiende aproximadamente 60 muebles por mes y no cuenta con un sistema digital integrado. La gestión del negocio se divide en tres frentes críticos:</a:t>
            </a:r>
          </a:p>
          <a:p>
            <a:r>
              <a:rPr lang="es-CO" b="1" dirty="0">
                <a:solidFill>
                  <a:srgbClr val="38AA00"/>
                </a:solidFill>
              </a:rPr>
              <a:t>Gestión de clientes y órdenes</a:t>
            </a:r>
          </a:p>
          <a:p>
            <a:r>
              <a:rPr lang="es-CO" dirty="0"/>
              <a:t>El registro de clientes, muebles y estados de reparación se realiza en cuadernos físicos, lo que genera pérdida de información, dificultad de consulta y comunicación limitada con el cliente por WhatsApp, sin trazabilidad del proceso.</a:t>
            </a:r>
          </a:p>
          <a:p>
            <a:r>
              <a:rPr lang="es-CO" b="1" dirty="0">
                <a:solidFill>
                  <a:srgbClr val="38AA00"/>
                </a:solidFill>
              </a:rPr>
              <a:t>Control de inventario de insumos</a:t>
            </a:r>
          </a:p>
          <a:p>
            <a:r>
              <a:rPr lang="es-CO" dirty="0"/>
              <a:t>Los materiales se manejan en hojas manuales sin relación con las órdenes de trabajo, lo que impide el control automático de stock y genera compras de emergencia.</a:t>
            </a:r>
          </a:p>
          <a:p>
            <a:r>
              <a:rPr lang="es-CO" b="1" dirty="0">
                <a:solidFill>
                  <a:srgbClr val="38AA00"/>
                </a:solidFill>
              </a:rPr>
              <a:t>Seguimiento del proceso productivo</a:t>
            </a:r>
          </a:p>
          <a:p>
            <a:r>
              <a:rPr lang="es-CO" dirty="0"/>
              <a:t>La comunicación entre administrador, reparador y cliente es principalmente verbal o manual, sin etapas definidas ni registro de avances, lo que dificulta el seguimiento del estado de los muebles.</a:t>
            </a:r>
          </a:p>
          <a:p>
            <a:r>
              <a:rPr lang="es-CO" b="1" dirty="0">
                <a:solidFill>
                  <a:srgbClr val="38AA00"/>
                </a:solidFill>
              </a:rPr>
              <a:t>Problema principal</a:t>
            </a:r>
          </a:p>
          <a:p>
            <a:r>
              <a:rPr lang="es-CO" dirty="0"/>
              <a:t>El problema central no es solo el uso de registros manuales, sino la </a:t>
            </a:r>
            <a:r>
              <a:rPr lang="es-CO" b="1" dirty="0"/>
              <a:t>falta de comunicación e integración de la información</a:t>
            </a:r>
            <a:r>
              <a:rPr lang="es-CO" dirty="0"/>
              <a:t>, lo que impide coordinar correctamente clientes, inventario y producción, generando desorganización y retrasos.</a:t>
            </a:r>
          </a:p>
          <a:p>
            <a:pPr algn="just">
              <a:lnSpc>
                <a:spcPts val="1575"/>
              </a:lnSpc>
            </a:pPr>
            <a:endParaRPr lang="es-419" sz="2000" dirty="0">
              <a:solidFill>
                <a:srgbClr val="0D0D0D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4888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92A513-4F30-009B-FD00-589CE3BE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226" y="94415"/>
            <a:ext cx="10515600" cy="1325563"/>
          </a:xfrm>
        </p:spPr>
        <p:txBody>
          <a:bodyPr/>
          <a:lstStyle/>
          <a:p>
            <a:r>
              <a:rPr lang="es-CO" b="1">
                <a:solidFill>
                  <a:schemeClr val="bg1"/>
                </a:solidFill>
                <a:latin typeface="Work Sans Medium"/>
              </a:rPr>
              <a:t>Pregunta problema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F217712-E060-F218-1D03-88FD41C5E2B8}"/>
              </a:ext>
            </a:extLst>
          </p:cNvPr>
          <p:cNvSpPr txBox="1"/>
          <p:nvPr/>
        </p:nvSpPr>
        <p:spPr>
          <a:xfrm>
            <a:off x="1240685" y="2222119"/>
            <a:ext cx="992605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baseline="0" dirty="0">
                <a:ea typeface="+mn-lt"/>
                <a:cs typeface="+mn-lt"/>
              </a:rPr>
              <a:t>¿Cómo </a:t>
            </a:r>
            <a:r>
              <a:rPr lang="es-ES" dirty="0">
                <a:ea typeface="+mn-lt"/>
                <a:cs typeface="+mn-lt"/>
              </a:rPr>
              <a:t>puede un sistema web integrado centralizar </a:t>
            </a:r>
            <a:r>
              <a:rPr lang="es-ES" baseline="0" dirty="0">
                <a:ea typeface="+mn-lt"/>
                <a:cs typeface="+mn-lt"/>
              </a:rPr>
              <a:t>la gestión de </a:t>
            </a:r>
            <a:r>
              <a:rPr lang="es-ES" dirty="0">
                <a:ea typeface="+mn-lt"/>
                <a:cs typeface="+mn-lt"/>
              </a:rPr>
              <a:t>clientes, el seguimiento de órdenes de reparación y el control de inventario de insumos del </a:t>
            </a:r>
            <a:r>
              <a:rPr lang="es-ES" baseline="0" dirty="0">
                <a:ea typeface="+mn-lt"/>
                <a:cs typeface="+mn-lt"/>
              </a:rPr>
              <a:t>taller </a:t>
            </a:r>
            <a:r>
              <a:rPr lang="es-ES" dirty="0">
                <a:ea typeface="+mn-lt"/>
                <a:cs typeface="+mn-lt"/>
              </a:rPr>
              <a:t>La Caqueteña, reemplazando el uso </a:t>
            </a:r>
            <a:r>
              <a:rPr lang="es-ES" baseline="0" dirty="0">
                <a:ea typeface="+mn-lt"/>
                <a:cs typeface="+mn-lt"/>
              </a:rPr>
              <a:t>de cuadernos</a:t>
            </a:r>
            <a:r>
              <a:rPr lang="es-ES" dirty="0">
                <a:ea typeface="+mn-lt"/>
                <a:cs typeface="+mn-lt"/>
              </a:rPr>
              <a:t>, para reducir </a:t>
            </a:r>
            <a:r>
              <a:rPr lang="es-ES" baseline="0" dirty="0">
                <a:ea typeface="+mn-lt"/>
                <a:cs typeface="+mn-lt"/>
              </a:rPr>
              <a:t>errores</a:t>
            </a:r>
            <a:r>
              <a:rPr lang="es-ES" dirty="0">
                <a:ea typeface="+mn-lt"/>
                <a:cs typeface="+mn-lt"/>
              </a:rPr>
              <a:t> operativos </a:t>
            </a:r>
            <a:r>
              <a:rPr lang="es-ES" baseline="0" dirty="0">
                <a:ea typeface="+mn-lt"/>
                <a:cs typeface="+mn-lt"/>
              </a:rPr>
              <a:t>y </a:t>
            </a:r>
            <a:r>
              <a:rPr lang="es-ES" dirty="0">
                <a:ea typeface="+mn-lt"/>
                <a:cs typeface="+mn-lt"/>
              </a:rPr>
              <a:t>mejorar la trazabilidad del proceso</a:t>
            </a:r>
            <a:r>
              <a:rPr lang="es-ES" baseline="0" dirty="0">
                <a:ea typeface="+mn-lt"/>
                <a:cs typeface="+mn-lt"/>
              </a:rPr>
              <a:t>?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A61ABC-94D0-AAE2-A190-E639841AF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086" y="3781286"/>
            <a:ext cx="4865916" cy="226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28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ido 2"/>
          <p:cNvSpPr txBox="1"/>
          <p:nvPr/>
        </p:nvSpPr>
        <p:spPr>
          <a:xfrm>
            <a:off x="766762" y="1971675"/>
            <a:ext cx="4881096" cy="46346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endParaRPr lang="es-CO" b="1" dirty="0">
              <a:solidFill>
                <a:srgbClr val="38AA00"/>
              </a:solidFill>
              <a:latin typeface="Calibri"/>
              <a:ea typeface="Calibri"/>
              <a:cs typeface="Calibri"/>
            </a:endParaRPr>
          </a:p>
          <a:p>
            <a:pPr algn="just"/>
            <a:r>
              <a:rPr lang="es-CO" dirty="0"/>
              <a:t>Desarrollar un sistema web de gestión integral que reemplace los cuadernos físicos y centralice en una sola plataforma la gestión de usuarios y roles, clientes, órdenes de reparación, inventario de insumos y seguimiento del proceso productivo. Esto permitirá mejorar la comunicación entre el personal, agilizar la restauración de los muebles, reducir errores, evitar la pérdida de información y mejorar la trazabilidad desde la recepción hasta la entrega.</a:t>
            </a:r>
            <a:endParaRPr lang="es-CO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8B7A018-5CDB-81B0-1246-7BBB03646950}"/>
              </a:ext>
            </a:extLst>
          </p:cNvPr>
          <p:cNvSpPr txBox="1"/>
          <p:nvPr/>
        </p:nvSpPr>
        <p:spPr>
          <a:xfrm>
            <a:off x="578948" y="416808"/>
            <a:ext cx="11027228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4400" b="1">
                <a:solidFill>
                  <a:srgbClr val="38AA00"/>
                </a:solidFill>
                <a:latin typeface="Work Sans Medium"/>
              </a:rPr>
              <a:t>Objetivo</a:t>
            </a:r>
            <a:r>
              <a:rPr lang="es-CO" sz="4400" b="1" dirty="0">
                <a:solidFill>
                  <a:srgbClr val="38AA00"/>
                </a:solidFill>
                <a:latin typeface="Work Sans Medium"/>
              </a:rPr>
              <a:t> General </a:t>
            </a:r>
          </a:p>
          <a:p>
            <a:pPr algn="ctr"/>
            <a:endParaRPr lang="es-ES"/>
          </a:p>
        </p:txBody>
      </p:sp>
      <p:pic>
        <p:nvPicPr>
          <p:cNvPr id="6" name="Imagen 5" descr="Un hombre sentado en un escritorio con una computadora portátil  El contenido generado por IA puede ser incorrecto.">
            <a:extLst>
              <a:ext uri="{FF2B5EF4-FFF2-40B4-BE49-F238E27FC236}">
                <a16:creationId xmlns:a16="http://schemas.microsoft.com/office/drawing/2014/main" id="{D80B583C-0D65-88D5-8B48-3A8BF7BAF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020" y="1971675"/>
            <a:ext cx="5063218" cy="29146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F529AC-C651-C58C-61F5-39554CDA5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982"/>
            <a:ext cx="10515600" cy="1325563"/>
          </a:xfrm>
        </p:spPr>
        <p:txBody>
          <a:bodyPr/>
          <a:lstStyle/>
          <a:p>
            <a:pPr algn="ctr"/>
            <a:r>
              <a:rPr lang="es-CO" b="1">
                <a:solidFill>
                  <a:schemeClr val="bg1"/>
                </a:solidFill>
                <a:latin typeface="Work Sans Medium"/>
                <a:ea typeface="Calibri Light" panose="020F0302020204030204"/>
                <a:cs typeface="Calibri Light" panose="020F0302020204030204"/>
              </a:rPr>
              <a:t>Módulos del sistema (1-2)</a:t>
            </a:r>
            <a:endParaRPr lang="es-ES">
              <a:solidFill>
                <a:schemeClr val="bg1"/>
              </a:solidFill>
              <a:latin typeface="Calibri Light"/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BFED7E1-1C8E-E075-D31F-45554A58593F}"/>
              </a:ext>
            </a:extLst>
          </p:cNvPr>
          <p:cNvSpPr txBox="1"/>
          <p:nvPr/>
        </p:nvSpPr>
        <p:spPr>
          <a:xfrm>
            <a:off x="500743" y="2296886"/>
            <a:ext cx="5290458" cy="40241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875"/>
              </a:lnSpc>
            </a:pPr>
            <a:r>
              <a:rPr lang="es-CO" sz="1800" b="1" baseline="0" dirty="0">
                <a:solidFill>
                  <a:srgbClr val="38AA00"/>
                </a:solidFill>
                <a:latin typeface="Calibri"/>
                <a:ea typeface="Calibri"/>
                <a:cs typeface="Calibri"/>
              </a:rPr>
              <a:t>Módulo 1: </a:t>
            </a:r>
            <a:r>
              <a:rPr lang="es-CO" sz="1800" b="1" baseline="0" dirty="0">
                <a:solidFill>
                  <a:srgbClr val="0D0D0D"/>
                </a:solidFill>
                <a:latin typeface="Calibri"/>
                <a:ea typeface="Calibri"/>
                <a:cs typeface="Calibri"/>
              </a:rPr>
              <a:t>Gestión de Usuarios y Roles</a:t>
            </a:r>
            <a:r>
              <a:rPr lang="en-US" sz="1800" dirty="0">
                <a:latin typeface="Calibri"/>
                <a:ea typeface="Calibri"/>
                <a:cs typeface="Calibri"/>
              </a:rPr>
              <a:t>​</a:t>
            </a:r>
          </a:p>
          <a:p>
            <a:pPr>
              <a:lnSpc>
                <a:spcPts val="1875"/>
              </a:lnSpc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lnSpc>
                <a:spcPts val="1875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Tres </a:t>
            </a:r>
            <a:r>
              <a:rPr lang="en-US" dirty="0" err="1">
                <a:ea typeface="+mn-lt"/>
                <a:cs typeface="+mn-lt"/>
              </a:rPr>
              <a:t>perfiles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acceso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representante</a:t>
            </a:r>
            <a:r>
              <a:rPr lang="en-US" dirty="0">
                <a:ea typeface="+mn-lt"/>
                <a:cs typeface="+mn-lt"/>
              </a:rPr>
              <a:t> legal, </a:t>
            </a:r>
            <a:r>
              <a:rPr lang="en-US" dirty="0" err="1">
                <a:ea typeface="+mn-lt"/>
                <a:cs typeface="+mn-lt"/>
              </a:rPr>
              <a:t>administrador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tapicero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fabricante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reparador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logística</a:t>
            </a:r>
            <a:r>
              <a:rPr lang="en-US" dirty="0">
                <a:ea typeface="+mn-lt"/>
                <a:cs typeface="+mn-lt"/>
              </a:rPr>
              <a:t>) </a:t>
            </a:r>
            <a:r>
              <a:rPr lang="es-CO" sz="1800" dirty="0">
                <a:latin typeface="Calibri"/>
                <a:ea typeface="Calibri"/>
                <a:cs typeface="Calibri"/>
              </a:rPr>
              <a:t>​</a:t>
            </a:r>
          </a:p>
          <a:p>
            <a:pPr algn="just">
              <a:lnSpc>
                <a:spcPts val="1875"/>
              </a:lnSpc>
            </a:pPr>
            <a:endParaRPr lang="es-CO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28600" indent="-228600" algn="just">
              <a:lnSpc>
                <a:spcPts val="1875"/>
              </a:lnSpc>
              <a:buFont typeface="Arial,Sans-Serif"/>
              <a:buChar char="•"/>
            </a:pPr>
            <a:r>
              <a:rPr lang="es-CO" dirty="0">
                <a:solidFill>
                  <a:srgbClr val="0D0D0D"/>
                </a:solidFill>
                <a:latin typeface="Calibri"/>
                <a:ea typeface="Calibri"/>
                <a:cs typeface="Calibri"/>
              </a:rPr>
              <a:t>Bitácora de auditoría: cada acción registrada con usuario, fecha y hora.</a:t>
            </a:r>
            <a:r>
              <a:rPr lang="es-CO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</a:p>
          <a:p>
            <a:pPr marL="228600" indent="-228600" algn="just">
              <a:lnSpc>
                <a:spcPts val="1875"/>
              </a:lnSpc>
              <a:buFont typeface="Arial,Sans-Serif"/>
              <a:buChar char="•"/>
            </a:pPr>
            <a:endParaRPr lang="es-CO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28600" indent="-228600" algn="just">
              <a:lnSpc>
                <a:spcPts val="1875"/>
              </a:lnSpc>
              <a:buFont typeface="Arial,Sans-Serif"/>
              <a:buChar char="•"/>
            </a:pPr>
            <a:r>
              <a:rPr lang="es-CO" dirty="0">
                <a:solidFill>
                  <a:srgbClr val="0D0D0D"/>
                </a:solidFill>
                <a:latin typeface="Calibri"/>
                <a:ea typeface="Calibri"/>
                <a:cs typeface="Calibri"/>
              </a:rPr>
              <a:t>Inicio de sesión seguro con bloqueo por intentos fallidos.</a:t>
            </a:r>
            <a:r>
              <a:rPr lang="es-CO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</a:p>
          <a:p>
            <a:pPr marL="285750" indent="-285750" algn="just">
              <a:lnSpc>
                <a:spcPts val="1875"/>
              </a:lnSpc>
              <a:buFont typeface="Arial"/>
              <a:buChar char="•"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28600" indent="-228600" algn="just">
              <a:lnSpc>
                <a:spcPts val="1875"/>
              </a:lnSpc>
              <a:buFont typeface="Arial,Sans-Serif"/>
              <a:buChar char="•"/>
            </a:pPr>
            <a:endParaRPr lang="es-CO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 algn="just">
              <a:lnSpc>
                <a:spcPts val="1875"/>
              </a:lnSpc>
              <a:buFont typeface="Arial"/>
              <a:buChar char="•"/>
            </a:pPr>
            <a:endParaRPr lang="es-CO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just">
              <a:lnSpc>
                <a:spcPts val="1875"/>
              </a:lnSpc>
            </a:pPr>
            <a:r>
              <a:rPr lang="es-CO" sz="1800" dirty="0">
                <a:latin typeface="Calibri"/>
                <a:ea typeface="Calibri"/>
                <a:cs typeface="Calibri"/>
              </a:rPr>
              <a:t>​</a:t>
            </a:r>
          </a:p>
          <a:p>
            <a:pPr algn="ctr"/>
            <a:endParaRPr lang="es-ES" dirty="0"/>
          </a:p>
        </p:txBody>
      </p:sp>
      <p:sp>
        <p:nvSpPr>
          <p:cNvPr id="4" name="CuadroTexto 4">
            <a:extLst>
              <a:ext uri="{FF2B5EF4-FFF2-40B4-BE49-F238E27FC236}">
                <a16:creationId xmlns:a16="http://schemas.microsoft.com/office/drawing/2014/main" id="{4E6D22DF-B372-1BF7-CDC8-24C37C357819}"/>
              </a:ext>
            </a:extLst>
          </p:cNvPr>
          <p:cNvSpPr txBox="1"/>
          <p:nvPr/>
        </p:nvSpPr>
        <p:spPr>
          <a:xfrm>
            <a:off x="6338063" y="2283092"/>
            <a:ext cx="5395590" cy="203132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b="1" dirty="0">
                <a:solidFill>
                  <a:srgbClr val="38AA00"/>
                </a:solidFill>
                <a:ea typeface="Calibri"/>
                <a:cs typeface="Calibri"/>
              </a:rPr>
              <a:t>Módulo 2: </a:t>
            </a:r>
            <a:r>
              <a:rPr lang="es-CO" b="1" dirty="0">
                <a:ea typeface="+mn-lt"/>
                <a:cs typeface="+mn-lt"/>
              </a:rPr>
              <a:t>Gestión de clientes y órdenes:</a:t>
            </a:r>
            <a:endParaRPr lang="es-ES" dirty="0">
              <a:ea typeface="+mn-lt"/>
              <a:cs typeface="+mn-lt"/>
            </a:endParaRPr>
          </a:p>
          <a:p>
            <a:endParaRPr lang="es-CO" b="1" dirty="0">
              <a:ea typeface="Calibri"/>
              <a:cs typeface="Calibri"/>
            </a:endParaRPr>
          </a:p>
          <a:p>
            <a:pPr algn="just"/>
            <a:r>
              <a:rPr lang="es-CO" dirty="0">
                <a:ea typeface="+mn-lt"/>
                <a:cs typeface="+mn-lt"/>
              </a:rPr>
              <a:t>registro digital de clientes y muebles entrantes con categorización por tipo (madera maciza, tapizado, modular, antiguo, daño estructural), reemplazando el cuaderno físico actual.</a:t>
            </a:r>
            <a:endParaRPr lang="es-CO" dirty="0">
              <a:ea typeface="Calibri" panose="020F0502020204030204"/>
              <a:cs typeface="Calibri" panose="020F0502020204030204"/>
            </a:endParaRPr>
          </a:p>
          <a:p>
            <a:endParaRPr lang="es-CO" b="1" dirty="0">
              <a:ea typeface="Calibri"/>
              <a:cs typeface="Calibri"/>
            </a:endParaRPr>
          </a:p>
        </p:txBody>
      </p:sp>
      <p:cxnSp>
        <p:nvCxnSpPr>
          <p:cNvPr id="6" name="Conector recto de flecha 4">
            <a:extLst>
              <a:ext uri="{FF2B5EF4-FFF2-40B4-BE49-F238E27FC236}">
                <a16:creationId xmlns:a16="http://schemas.microsoft.com/office/drawing/2014/main" id="{052B4866-1A3E-848F-F5D2-F7A5E8DE3E7C}"/>
              </a:ext>
            </a:extLst>
          </p:cNvPr>
          <p:cNvCxnSpPr/>
          <p:nvPr/>
        </p:nvCxnSpPr>
        <p:spPr>
          <a:xfrm>
            <a:off x="5987142" y="1719942"/>
            <a:ext cx="54428" cy="4898571"/>
          </a:xfrm>
          <a:prstGeom prst="straightConnector1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723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D14512A-82C3-3CB3-E1AA-69022CA85BD8}"/>
              </a:ext>
            </a:extLst>
          </p:cNvPr>
          <p:cNvSpPr txBox="1"/>
          <p:nvPr/>
        </p:nvSpPr>
        <p:spPr>
          <a:xfrm>
            <a:off x="936171" y="2351314"/>
            <a:ext cx="4234542" cy="26654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700">
                <a:latin typeface="Calibri"/>
                <a:ea typeface="Segoe UI"/>
                <a:cs typeface="Segoe UI"/>
              </a:rPr>
              <a:t>​</a:t>
            </a:r>
          </a:p>
          <a:p>
            <a:pPr>
              <a:lnSpc>
                <a:spcPts val="1800"/>
              </a:lnSpc>
            </a:pPr>
            <a:r>
              <a:rPr lang="es-CO" b="1" baseline="0">
                <a:solidFill>
                  <a:srgbClr val="38AA00"/>
                </a:solidFill>
                <a:latin typeface="Calibri"/>
                <a:ea typeface="Calibri"/>
                <a:cs typeface="Calibri"/>
              </a:rPr>
              <a:t>Módulo 3: </a:t>
            </a:r>
            <a:r>
              <a:rPr lang="es-CO" b="1">
                <a:ea typeface="+mn-lt"/>
                <a:cs typeface="+mn-lt"/>
              </a:rPr>
              <a:t>Seguimiento de órdenes en tiempo real: </a:t>
            </a:r>
          </a:p>
          <a:p>
            <a:pPr>
              <a:lnSpc>
                <a:spcPts val="1800"/>
              </a:lnSpc>
            </a:pPr>
            <a:endParaRPr lang="en-US" dirty="0">
              <a:latin typeface="Calibri"/>
              <a:ea typeface="Calibri"/>
              <a:cs typeface="Calibri"/>
            </a:endParaRPr>
          </a:p>
          <a:p>
            <a:pPr algn="just">
              <a:lnSpc>
                <a:spcPts val="1800"/>
              </a:lnSpc>
            </a:pPr>
            <a:r>
              <a:rPr lang="es-CO">
                <a:solidFill>
                  <a:srgbClr val="0D0D0D"/>
                </a:solidFill>
                <a:ea typeface="+mn-lt"/>
                <a:cs typeface="+mn-lt"/>
              </a:rPr>
              <a:t>Trazabilidad</a:t>
            </a:r>
            <a:r>
              <a:rPr lang="es-CO" dirty="0">
                <a:solidFill>
                  <a:srgbClr val="0D0D0D"/>
                </a:solidFill>
                <a:ea typeface="+mn-lt"/>
                <a:cs typeface="+mn-lt"/>
              </a:rPr>
              <a:t> del mueble a través de seis etapas definidas (Recepción, Diagnóstico, Reparación, Inspección, Listo, Entregado), con alertas internas por demora y notificaciones automáticas al cliente por correo electrónico en cada cambio de estado.</a:t>
            </a:r>
            <a:endParaRPr lang="es-CO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E1F351E-226B-FE78-B794-34C13DAB35E4}"/>
              </a:ext>
            </a:extLst>
          </p:cNvPr>
          <p:cNvSpPr txBox="1"/>
          <p:nvPr/>
        </p:nvSpPr>
        <p:spPr>
          <a:xfrm>
            <a:off x="6694714" y="2536372"/>
            <a:ext cx="5018315" cy="1410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875"/>
              </a:lnSpc>
            </a:pPr>
            <a:r>
              <a:rPr lang="es-CO" sz="1800" b="1" baseline="0">
                <a:solidFill>
                  <a:srgbClr val="38AA00"/>
                </a:solidFill>
                <a:latin typeface="Calibri"/>
                <a:ea typeface="Calibri"/>
                <a:cs typeface="Calibri"/>
              </a:rPr>
              <a:t>Módulo 4: </a:t>
            </a:r>
            <a:r>
              <a:rPr lang="es-CO" b="1">
                <a:ea typeface="+mn-lt"/>
                <a:cs typeface="+mn-lt"/>
              </a:rPr>
              <a:t>Control de inventario de insumos: </a:t>
            </a:r>
            <a:endParaRPr lang="es-CO" b="1">
              <a:latin typeface="Calibri"/>
              <a:ea typeface="Calibri"/>
              <a:cs typeface="Calibri"/>
            </a:endParaRPr>
          </a:p>
          <a:p>
            <a:pPr algn="just">
              <a:lnSpc>
                <a:spcPts val="1875"/>
              </a:lnSpc>
            </a:pPr>
            <a:r>
              <a:rPr lang="en-US" sz="1800">
                <a:latin typeface="Calibri"/>
                <a:ea typeface="Calibri"/>
                <a:cs typeface="Calibri"/>
              </a:rPr>
              <a:t>​</a:t>
            </a:r>
            <a:endParaRPr lang="en-US">
              <a:latin typeface="Calibri"/>
              <a:ea typeface="Calibri"/>
              <a:cs typeface="Calibri"/>
            </a:endParaRPr>
          </a:p>
          <a:p>
            <a:pPr algn="just"/>
            <a:r>
              <a:rPr lang="es-ES">
                <a:ea typeface="+mn-lt"/>
                <a:cs typeface="+mn-lt"/>
              </a:rPr>
              <a:t>catálogo digital de materiales con descuento automático al registrar cada reparación y alertas de stock bajo.</a:t>
            </a:r>
            <a:endParaRPr lang="es-ES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6F3E8A72-950F-DE22-1CCE-7321C28D06B8}"/>
              </a:ext>
            </a:extLst>
          </p:cNvPr>
          <p:cNvCxnSpPr/>
          <p:nvPr/>
        </p:nvCxnSpPr>
        <p:spPr>
          <a:xfrm>
            <a:off x="5987142" y="1719942"/>
            <a:ext cx="54428" cy="4898571"/>
          </a:xfrm>
          <a:prstGeom prst="straightConnector1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89280E10-FBE1-78D1-87C4-C6B14EC3FDB2}"/>
              </a:ext>
            </a:extLst>
          </p:cNvPr>
          <p:cNvSpPr txBox="1"/>
          <p:nvPr/>
        </p:nvSpPr>
        <p:spPr>
          <a:xfrm>
            <a:off x="2754087" y="217715"/>
            <a:ext cx="7609113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4400" b="1" baseline="0">
                <a:solidFill>
                  <a:srgbClr val="FFFFFF"/>
                </a:solidFill>
                <a:latin typeface="Work Sans Medium"/>
              </a:rPr>
              <a:t>Módulos del sistema </a:t>
            </a:r>
            <a:r>
              <a:rPr lang="es-CO" sz="4400" b="1">
                <a:solidFill>
                  <a:srgbClr val="FFFFFF"/>
                </a:solidFill>
                <a:latin typeface="Work Sans Medium"/>
              </a:rPr>
              <a:t>(3-4)</a:t>
            </a:r>
            <a:r>
              <a:rPr sz="4400" dirty="0">
                <a:latin typeface="Work Sans Medium"/>
                <a:ea typeface="Work Sans Medium"/>
                <a:cs typeface="Work Sans Medium"/>
              </a:rPr>
              <a:t>​</a:t>
            </a:r>
            <a:endParaRPr lang="es-ES" dirty="0"/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4050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1987F94-5781-7292-0E65-ABB21EB3C3D7}"/>
              </a:ext>
            </a:extLst>
          </p:cNvPr>
          <p:cNvSpPr txBox="1"/>
          <p:nvPr/>
        </p:nvSpPr>
        <p:spPr>
          <a:xfrm>
            <a:off x="466191" y="1715640"/>
            <a:ext cx="5633424" cy="41652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s-CO" sz="900">
                <a:latin typeface="Arial"/>
                <a:ea typeface="Segoe UI"/>
                <a:cs typeface="Segoe UI"/>
              </a:rPr>
              <a:t>​</a:t>
            </a:r>
          </a:p>
          <a:p>
            <a:pPr algn="just">
              <a:lnSpc>
                <a:spcPts val="1875"/>
              </a:lnSpc>
            </a:pPr>
            <a:r>
              <a:rPr lang="es-CO" sz="1600" b="1" baseline="0">
                <a:solidFill>
                  <a:srgbClr val="38AA00"/>
                </a:solidFill>
                <a:latin typeface="Calibri"/>
                <a:ea typeface="Calibri"/>
                <a:cs typeface="Calibri"/>
              </a:rPr>
              <a:t>Módulo 5: </a:t>
            </a:r>
            <a:r>
              <a:rPr lang="es-CO" sz="1600" b="1">
                <a:ea typeface="+mn-lt"/>
                <a:cs typeface="+mn-lt"/>
              </a:rPr>
              <a:t>Reportes y analítica:</a:t>
            </a:r>
          </a:p>
          <a:p>
            <a:pPr algn="just">
              <a:lnSpc>
                <a:spcPts val="1875"/>
              </a:lnSpc>
            </a:pPr>
            <a:endParaRPr lang="es-CO" sz="16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algn="just"/>
            <a:r>
              <a:rPr lang="es-CO" sz="1600" b="1">
                <a:solidFill>
                  <a:srgbClr val="000000"/>
                </a:solidFill>
                <a:ea typeface="+mn-lt"/>
                <a:cs typeface="+mn-lt"/>
              </a:rPr>
              <a:t>¿Qué muestra el tablero principal?</a:t>
            </a:r>
            <a:endParaRPr lang="es-CO" sz="1600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CO" sz="1600">
                <a:solidFill>
                  <a:srgbClr val="000000"/>
                </a:solidFill>
                <a:ea typeface="+mn-lt"/>
                <a:cs typeface="+mn-lt"/>
              </a:rPr>
              <a:t>Muebles activos por etapa en tiempo real</a:t>
            </a:r>
            <a:endParaRPr lang="es-CO" sz="1600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CO" sz="1600">
                <a:solidFill>
                  <a:srgbClr val="000000"/>
                </a:solidFill>
                <a:ea typeface="+mn-lt"/>
                <a:cs typeface="+mn-lt"/>
              </a:rPr>
              <a:t>Tiempo promedio de reparación por categoría de mueble</a:t>
            </a:r>
            <a:endParaRPr lang="es-CO" sz="1600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CO" sz="1600">
                <a:solidFill>
                  <a:srgbClr val="000000"/>
                </a:solidFill>
                <a:ea typeface="+mn-lt"/>
                <a:cs typeface="+mn-lt"/>
              </a:rPr>
              <a:t>Entregas completadas del día, semana y mes</a:t>
            </a:r>
            <a:endParaRPr lang="es-CO" sz="1600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CO" sz="1600">
                <a:solidFill>
                  <a:srgbClr val="000000"/>
                </a:solidFill>
                <a:ea typeface="+mn-lt"/>
                <a:cs typeface="+mn-lt"/>
              </a:rPr>
              <a:t>Alertas de muebles con más días del estimado en una etapa</a:t>
            </a:r>
            <a:endParaRPr lang="es-CO" sz="1600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s-CO" sz="1600" b="1">
                <a:solidFill>
                  <a:srgbClr val="000000"/>
                </a:solidFill>
                <a:ea typeface="+mn-lt"/>
                <a:cs typeface="+mn-lt"/>
              </a:rPr>
              <a:t>Reportes exportables:</a:t>
            </a:r>
            <a:endParaRPr lang="es-CO" sz="1600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CO" sz="1600">
                <a:solidFill>
                  <a:srgbClr val="000000"/>
                </a:solidFill>
                <a:ea typeface="+mn-lt"/>
                <a:cs typeface="+mn-lt"/>
              </a:rPr>
              <a:t>Reporte de órdenes por período (diario, semanal, mensual)</a:t>
            </a:r>
            <a:endParaRPr lang="es-CO" sz="1600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CO" sz="1600">
                <a:solidFill>
                  <a:srgbClr val="000000"/>
                </a:solidFill>
                <a:ea typeface="+mn-lt"/>
                <a:cs typeface="+mn-lt"/>
              </a:rPr>
              <a:t>Reporte de consumo de materiales por reparación</a:t>
            </a:r>
            <a:endParaRPr lang="es-CO" sz="1600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CO" sz="1600">
                <a:solidFill>
                  <a:srgbClr val="000000"/>
                </a:solidFill>
                <a:ea typeface="+mn-lt"/>
                <a:cs typeface="+mn-lt"/>
              </a:rPr>
              <a:t>Reporte de tiempos por etapa para identificar cuellos de botella</a:t>
            </a:r>
            <a:endParaRPr lang="es-CO" sz="1600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CO" sz="1600">
                <a:solidFill>
                  <a:srgbClr val="000000"/>
                </a:solidFill>
                <a:ea typeface="+mn-lt"/>
                <a:cs typeface="+mn-lt"/>
              </a:rPr>
              <a:t>Exportación en PDF para el administrador y en Excel para archivo o contabilidad </a:t>
            </a:r>
          </a:p>
          <a:p>
            <a:pPr marL="285750" indent="-285750" algn="just">
              <a:buFont typeface="Arial"/>
              <a:buChar char="•"/>
            </a:pPr>
            <a:endParaRPr lang="es-CO" sz="1600" dirty="0">
              <a:ea typeface="Calibri"/>
              <a:cs typeface="Calibri"/>
            </a:endParaRPr>
          </a:p>
          <a:p>
            <a:pPr algn="just"/>
            <a:endParaRPr lang="es-CO" sz="1600" dirty="0">
              <a:ea typeface="Calibri"/>
              <a:cs typeface="Calibri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C1AC4E4-EA71-8DA0-4A22-4CF38C1C38B2}"/>
              </a:ext>
            </a:extLst>
          </p:cNvPr>
          <p:cNvSpPr txBox="1"/>
          <p:nvPr/>
        </p:nvSpPr>
        <p:spPr>
          <a:xfrm>
            <a:off x="2104746" y="327883"/>
            <a:ext cx="7979228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4400" b="1" baseline="0">
                <a:solidFill>
                  <a:srgbClr val="FFFFFF"/>
                </a:solidFill>
                <a:latin typeface="Work Sans Medium"/>
              </a:rPr>
              <a:t>Módulos del sistema (</a:t>
            </a:r>
            <a:r>
              <a:rPr lang="es-CO" sz="4400" b="1">
                <a:solidFill>
                  <a:srgbClr val="FFFFFF"/>
                </a:solidFill>
                <a:latin typeface="Work Sans Medium"/>
              </a:rPr>
              <a:t>5</a:t>
            </a:r>
            <a:r>
              <a:rPr lang="es-CO" sz="4400" b="1" baseline="0">
                <a:solidFill>
                  <a:srgbClr val="FFFFFF"/>
                </a:solidFill>
                <a:latin typeface="Work Sans Medium"/>
              </a:rPr>
              <a:t>)</a:t>
            </a:r>
            <a:r>
              <a:rPr sz="4400">
                <a:latin typeface="Work Sans Medium"/>
                <a:ea typeface="Work Sans Medium"/>
                <a:cs typeface="Work Sans Medium"/>
              </a:rPr>
              <a:t>​</a:t>
            </a:r>
            <a:endParaRPr lang="es-ES"/>
          </a:p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D9AE9CD-34C6-0372-11CA-A4EE68F874EB}"/>
              </a:ext>
            </a:extLst>
          </p:cNvPr>
          <p:cNvSpPr txBox="1"/>
          <p:nvPr/>
        </p:nvSpPr>
        <p:spPr>
          <a:xfrm>
            <a:off x="6384588" y="1714137"/>
            <a:ext cx="4652789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s-CO" sz="1600" dirty="0">
              <a:ea typeface="Calibri"/>
              <a:cs typeface="Calibri"/>
            </a:endParaRPr>
          </a:p>
          <a:p>
            <a:pPr marL="171450" indent="-171450" algn="just">
              <a:buFont typeface="Arial,Sans-Serif"/>
              <a:buChar char="•"/>
            </a:pPr>
            <a:r>
              <a:rPr lang="es-CO" sz="1600" dirty="0">
                <a:ea typeface="Calibri"/>
                <a:cs typeface="Calibri"/>
              </a:rPr>
              <a:t>Base de datos centralizada</a:t>
            </a:r>
          </a:p>
          <a:p>
            <a:pPr algn="just"/>
            <a:r>
              <a:rPr lang="es-CO" sz="1600" dirty="0">
                <a:ea typeface="Calibri"/>
                <a:cs typeface="Calibri"/>
              </a:rPr>
              <a:t>Todos los reportes se generan automáticamente desde</a:t>
            </a:r>
          </a:p>
          <a:p>
            <a:pPr algn="just"/>
            <a:r>
              <a:rPr lang="es-CO" sz="1600" dirty="0">
                <a:ea typeface="Calibri"/>
                <a:cs typeface="Calibri"/>
              </a:rPr>
              <a:t>los datos registrados en los demás módulos, sin necesidad</a:t>
            </a:r>
          </a:p>
          <a:p>
            <a:pPr algn="just"/>
            <a:r>
              <a:rPr lang="es-CO" sz="1600" dirty="0">
                <a:ea typeface="Calibri"/>
                <a:cs typeface="Calibri"/>
              </a:rPr>
              <a:t>de copiar información manualmente.</a:t>
            </a:r>
          </a:p>
          <a:p>
            <a:pPr algn="l"/>
            <a:endParaRPr lang="es-ES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1685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D14512A-82C3-3CB3-E1AA-69022CA85BD8}"/>
              </a:ext>
            </a:extLst>
          </p:cNvPr>
          <p:cNvSpPr txBox="1"/>
          <p:nvPr/>
        </p:nvSpPr>
        <p:spPr>
          <a:xfrm>
            <a:off x="936171" y="2351314"/>
            <a:ext cx="4234542" cy="26654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700">
                <a:latin typeface="Calibri"/>
                <a:ea typeface="Segoe UI"/>
                <a:cs typeface="Segoe UI"/>
              </a:rPr>
              <a:t>​</a:t>
            </a:r>
          </a:p>
          <a:p>
            <a:pPr>
              <a:lnSpc>
                <a:spcPts val="1800"/>
              </a:lnSpc>
            </a:pPr>
            <a:r>
              <a:rPr lang="es-CO" b="1" baseline="0">
                <a:solidFill>
                  <a:srgbClr val="38AA00"/>
                </a:solidFill>
                <a:latin typeface="Calibri"/>
                <a:ea typeface="Calibri"/>
                <a:cs typeface="Calibri"/>
              </a:rPr>
              <a:t>Módulo 6: </a:t>
            </a:r>
            <a:r>
              <a:rPr lang="es-CO" b="1">
                <a:ea typeface="+mn-lt"/>
                <a:cs typeface="+mn-lt"/>
              </a:rPr>
              <a:t>Gestión de ventas y cotizaciones: </a:t>
            </a:r>
          </a:p>
          <a:p>
            <a:pPr>
              <a:lnSpc>
                <a:spcPts val="1800"/>
              </a:lnSpc>
            </a:pPr>
            <a:endParaRPr lang="en-US" dirty="0">
              <a:latin typeface="Calibri"/>
              <a:ea typeface="Calibri"/>
              <a:cs typeface="Calibri"/>
            </a:endParaRPr>
          </a:p>
          <a:p>
            <a:pPr algn="just">
              <a:lnSpc>
                <a:spcPts val="1800"/>
              </a:lnSpc>
            </a:pPr>
            <a:r>
              <a:rPr lang="es-CO" dirty="0">
                <a:solidFill>
                  <a:srgbClr val="0D0D0D"/>
                </a:solidFill>
                <a:ea typeface="+mn-lt"/>
                <a:cs typeface="+mn-lt"/>
              </a:rPr>
              <a:t>Registro de cotizaciones para clientes con detalle de materiales, mano de obra y tiempo estimado. Permite generar presupuestos digitales, hacer seguimiento de cotizaciones aprobadas o rechazadas y vincularlas directamente a una orden de reparación.</a:t>
            </a:r>
            <a:endParaRPr lang="es-CO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E1F351E-226B-FE78-B794-34C13DAB35E4}"/>
              </a:ext>
            </a:extLst>
          </p:cNvPr>
          <p:cNvSpPr txBox="1"/>
          <p:nvPr/>
        </p:nvSpPr>
        <p:spPr>
          <a:xfrm>
            <a:off x="6694714" y="2536372"/>
            <a:ext cx="5018315" cy="1410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875"/>
              </a:lnSpc>
            </a:pPr>
            <a:r>
              <a:rPr lang="es-CO" sz="1800" b="1" baseline="0">
                <a:solidFill>
                  <a:srgbClr val="38AA00"/>
                </a:solidFill>
                <a:latin typeface="Calibri"/>
                <a:ea typeface="Calibri"/>
                <a:cs typeface="Calibri"/>
              </a:rPr>
              <a:t>Módulo 7: </a:t>
            </a:r>
            <a:r>
              <a:rPr lang="es-CO" b="1">
                <a:ea typeface="+mn-lt"/>
                <a:cs typeface="+mn-lt"/>
              </a:rPr>
              <a:t>Notificaciones y comunicación con el cliente: </a:t>
            </a:r>
            <a:endParaRPr lang="es-CO" b="1">
              <a:latin typeface="Calibri"/>
              <a:ea typeface="Calibri"/>
              <a:cs typeface="Calibri"/>
            </a:endParaRPr>
          </a:p>
          <a:p>
            <a:pPr algn="just">
              <a:lnSpc>
                <a:spcPts val="1875"/>
              </a:lnSpc>
            </a:pPr>
            <a:r>
              <a:rPr lang="en-US" sz="1800">
                <a:latin typeface="Calibri"/>
                <a:ea typeface="Calibri"/>
                <a:cs typeface="Calibri"/>
              </a:rPr>
              <a:t>​</a:t>
            </a:r>
            <a:endParaRPr lang="en-US">
              <a:latin typeface="Calibri"/>
              <a:ea typeface="Calibri"/>
              <a:cs typeface="Calibri"/>
            </a:endParaRPr>
          </a:p>
          <a:p>
            <a:pPr algn="just"/>
            <a:r>
              <a:rPr lang="es-ES">
                <a:ea typeface="+mn-lt"/>
                <a:cs typeface="+mn-lt"/>
              </a:rPr>
              <a:t>Sistema de notificaciones automáticas al cliente por correo electrónico o mensaje al cambiar el estado de su mueble. Incluye historial de comunicaciones por orden y posibilidad de enviar mensajes personalizados desde el sistema.</a:t>
            </a:r>
            <a:endParaRPr lang="es-ES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6F3E8A72-950F-DE22-1CCE-7321C28D06B8}"/>
              </a:ext>
            </a:extLst>
          </p:cNvPr>
          <p:cNvCxnSpPr/>
          <p:nvPr/>
        </p:nvCxnSpPr>
        <p:spPr>
          <a:xfrm>
            <a:off x="5987142" y="1719942"/>
            <a:ext cx="54428" cy="4898571"/>
          </a:xfrm>
          <a:prstGeom prst="straightConnector1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89280E10-FBE1-78D1-87C4-C6B14EC3FDB2}"/>
              </a:ext>
            </a:extLst>
          </p:cNvPr>
          <p:cNvSpPr txBox="1"/>
          <p:nvPr/>
        </p:nvSpPr>
        <p:spPr>
          <a:xfrm>
            <a:off x="2754087" y="217715"/>
            <a:ext cx="7609113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4400" b="1" baseline="0">
                <a:solidFill>
                  <a:srgbClr val="FFFFFF"/>
                </a:solidFill>
                <a:latin typeface="Work Sans Medium"/>
              </a:rPr>
              <a:t>Módulos del sistema </a:t>
            </a:r>
            <a:r>
              <a:rPr lang="es-CO" sz="4400" b="1">
                <a:solidFill>
                  <a:srgbClr val="FFFFFF"/>
                </a:solidFill>
                <a:latin typeface="Work Sans Medium"/>
              </a:rPr>
              <a:t>(6-7)</a:t>
            </a:r>
            <a:r>
              <a:rPr sz="4400" dirty="0">
                <a:latin typeface="Work Sans Medium"/>
                <a:ea typeface="Work Sans Medium"/>
                <a:cs typeface="Work Sans Medium"/>
              </a:rPr>
              <a:t>​</a:t>
            </a:r>
            <a:endParaRPr lang="es-ES" dirty="0"/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4050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  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886</Words>
  <Application>Microsoft Office PowerPoint</Application>
  <PresentationFormat>Panorámica</PresentationFormat>
  <Paragraphs>89</Paragraphs>
  <Slides>10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Arial</vt:lpstr>
      <vt:lpstr>Arial,Sans-Serif</vt:lpstr>
      <vt:lpstr>Calibri</vt:lpstr>
      <vt:lpstr>Calibri Light</vt:lpstr>
      <vt:lpstr>Work Sans</vt:lpstr>
      <vt:lpstr>Work Sans Light</vt:lpstr>
      <vt:lpstr>Work Sans Medium</vt:lpstr>
      <vt:lpstr>Tema de Office</vt:lpstr>
      <vt:lpstr>Presentación de PowerPoint</vt:lpstr>
      <vt:lpstr>Presentación de PowerPoint</vt:lpstr>
      <vt:lpstr>Planteamiento del problema</vt:lpstr>
      <vt:lpstr>Pregunta problema</vt:lpstr>
      <vt:lpstr>Presentación de PowerPoint</vt:lpstr>
      <vt:lpstr>Módulos del sistema (1-2)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gelen muñoz</cp:lastModifiedBy>
  <cp:revision>536</cp:revision>
  <dcterms:created xsi:type="dcterms:W3CDTF">2020-10-01T23:51:28Z</dcterms:created>
  <dcterms:modified xsi:type="dcterms:W3CDTF">2026-06-22T23:07:41Z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